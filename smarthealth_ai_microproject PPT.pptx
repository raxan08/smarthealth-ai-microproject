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rcRect l="0" r="0" t="0" b="0"/>
          <a:stretch/>
        </p:blipFill>
        <p:spPr>
          <a:xfrm>
            <a:off x="9905695" y="4572000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290718" y="6553505"/>
            <a:ext cx="19275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2026 Microproject Submission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91695" cy="24761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9110" y="383134"/>
            <a:ext cx="9058961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SmartHealth AI: Predictive Analytics </a:t>
            </a:r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Early Disease Detection 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140403" y="1655064"/>
            <a:ext cx="3914546" cy="437998"/>
          </a:xfrm>
          <a:prstGeom prst="roundRect">
            <a:avLst>
              <a:gd name="adj" fmla="val 20876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78147" y="1741018"/>
            <a:ext cx="406908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4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Lifestyle Data &amp; Machine Learning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rot="10800000">
            <a:off x="0" y="2104949"/>
            <a:ext cx="12191695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1524305" y="2857500"/>
            <a:ext cx="9144000" cy="254294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533449" y="2866644"/>
            <a:ext cx="3200400" cy="2523744"/>
          </a:xfrm>
          <a:prstGeom prst="roundRect">
            <a:avLst>
              <a:gd name="adj" fmla="val 5469"/>
            </a:avLst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4724705" y="2866644"/>
            <a:ext cx="9144" cy="2523744"/>
          </a:xfrm>
          <a:prstGeom prst="roundRect">
            <a:avLst>
              <a:gd name="adj" fmla="val 1509434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1819656" y="3366821"/>
            <a:ext cx="133502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29054" y="3366821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819656" y="3595421"/>
            <a:ext cx="2724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Analytics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819656" y="4186123"/>
            <a:ext cx="152705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48256" y="4186123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819656" y="4414723"/>
            <a:ext cx="269565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of Computer Science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107838" y="3419856"/>
            <a:ext cx="517184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107838" y="3152851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203850" y="3752698"/>
            <a:ext cx="342900" cy="3429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5318150" y="3857854"/>
            <a:ext cx="114300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661050" y="3752698"/>
            <a:ext cx="17647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Rakhshaan Shaikh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883042" y="3752698"/>
            <a:ext cx="342900" cy="3429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7997342" y="3857854"/>
            <a:ext cx="114300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40242" y="3752698"/>
            <a:ext cx="17675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Shashank Sonawne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5203850" y="4572000"/>
            <a:ext cx="342900" cy="3429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5318150" y="4677156"/>
            <a:ext cx="114300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661050" y="4572000"/>
            <a:ext cx="15416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Atharva Bavale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7883042" y="4572000"/>
            <a:ext cx="342900" cy="3429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7997342" y="4677156"/>
            <a:ext cx="114300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40242" y="4572000"/>
            <a:ext cx="18726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Vikalkumar Shinde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5661050" y="4000500"/>
            <a:ext cx="819302" cy="190195"/>
          </a:xfrm>
          <a:prstGeom prst="roundRect">
            <a:avLst>
              <a:gd name="adj" fmla="val 1923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5661050" y="4000500"/>
            <a:ext cx="8961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SB3-AIDS-33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8340242" y="4000500"/>
            <a:ext cx="838505" cy="190195"/>
          </a:xfrm>
          <a:prstGeom prst="roundRect">
            <a:avLst>
              <a:gd name="adj" fmla="val 1923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8340242" y="4000500"/>
            <a:ext cx="9144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SB3-AIML-13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5661050" y="4819802"/>
            <a:ext cx="819302" cy="190195"/>
          </a:xfrm>
          <a:prstGeom prst="roundRect">
            <a:avLst>
              <a:gd name="adj" fmla="val 1923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5661050" y="4819802"/>
            <a:ext cx="8961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SB3-AIDS-23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340242" y="4819802"/>
            <a:ext cx="838505" cy="190195"/>
          </a:xfrm>
          <a:prstGeom prst="roundRect">
            <a:avLst>
              <a:gd name="adj" fmla="val 1923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340242" y="4819802"/>
            <a:ext cx="9144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SB3-AIML-18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200254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875995"/>
            <a:ext cx="11163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foundation of modern predictive health systems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53305"/>
            <a:ext cx="12191695" cy="1904695"/>
          </a:xfrm>
          <a:custGeom>
            <a:avLst/>
            <a:gdLst/>
            <a:ahLst/>
            <a:cxnLst/>
            <a:rect l="l" t="t" r="r" b="b"/>
            <a:pathLst>
              <a:path w="12191695" h="1904695">
                <a:moveTo>
                  <a:pt x="0" y="1904695"/>
                </a:moveTo>
                <a:lnTo>
                  <a:pt x="12191695" y="1904695"/>
                </a:lnTo>
                <a:lnTo>
                  <a:pt x="12191695" y="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-381305" y="952805"/>
            <a:ext cx="1143000" cy="114300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714500"/>
            <a:ext cx="3429000" cy="4572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1714500"/>
            <a:ext cx="3409798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4695" y="2009851"/>
            <a:ext cx="761695" cy="7616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33295" y="2238451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42746" y="3000146"/>
            <a:ext cx="269016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 Analytics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28446" y="3425342"/>
            <a:ext cx="2915107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systematic use of data to drive improvements in clinical care, operational efficiency, and patient outcomes.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241" b="-100241"/>
          <a:stretch/>
        </p:blipFill>
        <p:spPr>
          <a:xfrm>
            <a:off x="2190902" y="5419649"/>
            <a:ext cx="190195" cy="5715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1805" y="1714500"/>
            <a:ext cx="3429000" cy="4572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81805" y="1714500"/>
            <a:ext cx="3409798" cy="57607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15000" y="2009851"/>
            <a:ext cx="761695" cy="76169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43600" y="2238451"/>
            <a:ext cx="304495" cy="30449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37837" y="3000146"/>
            <a:ext cx="291785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Importance of Early Detection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638751" y="3697834"/>
            <a:ext cx="2915107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health risks before symptoms appear significantly reduces complications, treatment costs, and mortality rates.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241" b="-100241"/>
          <a:stretch/>
        </p:blipFill>
        <p:spPr>
          <a:xfrm>
            <a:off x="6001207" y="5419649"/>
            <a:ext cx="190195" cy="57150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91195" y="1714500"/>
            <a:ext cx="3429000" cy="45720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191195" y="1714500"/>
            <a:ext cx="3409798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9525305" y="2009851"/>
            <a:ext cx="761695" cy="761695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753905" y="2238451"/>
            <a:ext cx="304495" cy="30449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496605" y="3000146"/>
            <a:ext cx="282458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Paradigm Shift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8449056" y="3425342"/>
            <a:ext cx="2915107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Transitioning from retrospective reporting ("what happened?") to predictive insights ("what will happen?") for proactive care.</a:t>
            </a:r>
            <a:endParaRPr lang="en-US" sz="12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241" b="-100241"/>
          <a:stretch/>
        </p:blipFill>
        <p:spPr>
          <a:xfrm>
            <a:off x="9810598" y="5419649"/>
            <a:ext cx="19019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5524805"/>
            <a:ext cx="952805" cy="9528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571500" y="2102206"/>
            <a:ext cx="3200400" cy="22631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3602" y="2387498"/>
            <a:ext cx="2655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Reality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933602" y="2654503"/>
            <a:ext cx="27432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933602" y="3359506"/>
            <a:ext cx="262890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deaths globally are caused by chronic diseases, many of which are preventable.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1500" y="4650638"/>
            <a:ext cx="3200400" cy="1143000"/>
          </a:xfrm>
          <a:prstGeom prst="roundRect">
            <a:avLst>
              <a:gd name="adj" fmla="val 21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1695" y="4879238"/>
            <a:ext cx="190195" cy="1901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7105" y="4841748"/>
            <a:ext cx="25914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healthcare is reactive. We wait for symptoms to appear before taking action, losing valuable time for intervention.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6" r="-6" t="0" b="0"/>
          <a:stretch/>
        </p:blipFill>
        <p:spPr>
          <a:xfrm>
            <a:off x="4153205" y="1419149"/>
            <a:ext cx="3614623" cy="24094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401007" y="166695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4451" y="1790395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401007" y="22860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Lifestyle Diseases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4401007" y="2667305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Chronic conditions like diabetes and hypertension are escalating rapidly due to modern sedentary lifestyles and dietary habits.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6" r="-6" t="0" b="0"/>
          <a:stretch/>
        </p:blipFill>
        <p:spPr>
          <a:xfrm>
            <a:off x="8005572" y="1419149"/>
            <a:ext cx="3614623" cy="2409444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253374" y="166695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8406079" y="1790395"/>
            <a:ext cx="171907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253374" y="2286000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Diagnosis</a:t>
            </a:r>
            <a:endParaRPr lang="en-US" sz="1500" dirty="0"/>
          </a:p>
        </p:txBody>
      </p:sp>
      <p:sp>
        <p:nvSpPr>
          <p:cNvPr id="23" name="Text 14"/>
          <p:cNvSpPr txBox="1"/>
          <p:nvPr/>
        </p:nvSpPr>
        <p:spPr>
          <a:xfrm>
            <a:off x="8253374" y="2667305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diagnostic methods are often invasive or infrequent, leading to detection only after significant health damage has occurred.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-6" r="-6" t="0" b="0"/>
          <a:stretch/>
        </p:blipFill>
        <p:spPr>
          <a:xfrm>
            <a:off x="4153205" y="4067251"/>
            <a:ext cx="3614623" cy="24094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401007" y="43150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57" r="-57" t="0" b="0"/>
          <a:stretch/>
        </p:blipFill>
        <p:spPr>
          <a:xfrm>
            <a:off x="4539082" y="4438498"/>
            <a:ext cx="200254" cy="22860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401007" y="49341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28" name="Text 17"/>
          <p:cNvSpPr txBox="1"/>
          <p:nvPr/>
        </p:nvSpPr>
        <p:spPr>
          <a:xfrm>
            <a:off x="4401007" y="5315407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Valuable health data is scattered across wearables, paper records, and disparate systems, preventing a holistic view of patient health.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-6" r="-6" t="0" b="0"/>
          <a:stretch/>
        </p:blipFill>
        <p:spPr>
          <a:xfrm>
            <a:off x="8005572" y="4067251"/>
            <a:ext cx="3614623" cy="2409444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8253374" y="431505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376818" y="4438498"/>
            <a:ext cx="228600" cy="2286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253374" y="4934102"/>
            <a:ext cx="3238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for Scalability</a:t>
            </a:r>
            <a:endParaRPr lang="en-US" sz="1500" dirty="0"/>
          </a:p>
        </p:txBody>
      </p:sp>
      <p:sp>
        <p:nvSpPr>
          <p:cNvPr id="33" name="Text 20"/>
          <p:cNvSpPr txBox="1"/>
          <p:nvPr/>
        </p:nvSpPr>
        <p:spPr>
          <a:xfrm>
            <a:off x="8253374" y="5315407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screening is resource-intensive. There is a critical need for low-cost, AI-driven risk identification tools that can scale.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0" y="0"/>
            <a:ext cx="12191695" cy="1037844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5" name="Text 22"/>
          <p:cNvSpPr txBox="1"/>
          <p:nvPr/>
        </p:nvSpPr>
        <p:spPr>
          <a:xfrm>
            <a:off x="571500" y="180137"/>
            <a:ext cx="42775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6" name="Text 23"/>
          <p:cNvSpPr txBox="1"/>
          <p:nvPr/>
        </p:nvSpPr>
        <p:spPr>
          <a:xfrm>
            <a:off x="571500" y="629107"/>
            <a:ext cx="4772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challenges in modern healthcare diagnostics</a:t>
            </a:r>
            <a:endParaRPr lang="en-US" sz="12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1048695" y="233172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4953305"/>
            <a:ext cx="2857500" cy="2857500"/>
          </a:xfrm>
          <a:prstGeom prst="ellipse">
            <a:avLst/>
          </a:prstGeom>
          <a:noFill/>
          <a:ln w="5080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1500" y="1058875"/>
            <a:ext cx="5410505" cy="1819656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69357" y="1259129"/>
            <a:ext cx="5065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210605" y="1058875"/>
            <a:ext cx="5410505" cy="1819656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933481" y="1259129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71500" y="3107131"/>
            <a:ext cx="5524805" cy="1819656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01361" y="3307385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316675" y="3107131"/>
            <a:ext cx="5305349" cy="1819656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892333" y="3307385"/>
            <a:ext cx="6099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444545" y="5155387"/>
            <a:ext cx="5305349" cy="1819656"/>
          </a:xfrm>
          <a:prstGeom prst="roundRect">
            <a:avLst>
              <a:gd name="adj" fmla="val 6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54950" y="5354726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09244" y="129753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2746" y="1431036"/>
            <a:ext cx="190195" cy="19019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9244" y="1906524"/>
            <a:ext cx="5048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Risk Modeling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" y="2240280"/>
            <a:ext cx="5010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a robust machine learning model utilizing lifestyle and clinical variables to accurately assess individual health risks.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8349" y="1297534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6590995" y="1431036"/>
            <a:ext cx="171907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448349" y="1906524"/>
            <a:ext cx="50484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448349" y="2240280"/>
            <a:ext cx="5010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proactive detection of high-risk individuals before symptoms manifest, allowing for timely medical intervention.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809244" y="334487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972" y="3478378"/>
            <a:ext cx="237744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09244" y="3954780"/>
            <a:ext cx="5162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Care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09244" y="4288536"/>
            <a:ext cx="5125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tailored lifestyle and prevention recommendations based on specific risk factors and patient history.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555334" y="3344875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6674206" y="3478378"/>
            <a:ext cx="219456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555334" y="3954780"/>
            <a:ext cx="4944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Clinician Decision Support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555334" y="4288536"/>
            <a:ext cx="49057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explainable AI outputs to assist healthcare professionals in making data-driven diagnostic decisions with confidence.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82289" y="539313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15791" y="5526634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682289" y="6003036"/>
            <a:ext cx="4944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Ethical &amp; Private AI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3682289" y="6335878"/>
            <a:ext cx="49057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the highest standards of patient data privacy, model fairness, and ethical considerations in all algorithmic processes.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571500" y="0"/>
            <a:ext cx="401787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8" name="Text 31"/>
          <p:cNvSpPr txBox="1"/>
          <p:nvPr/>
        </p:nvSpPr>
        <p:spPr>
          <a:xfrm>
            <a:off x="571500" y="449885"/>
            <a:ext cx="4364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goals for the SmartHealth AI initiative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144707" y="100584"/>
            <a:ext cx="476402" cy="476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53598" y="1333195"/>
            <a:ext cx="952805" cy="9528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963778"/>
            <a:ext cx="3562502" cy="961949"/>
          </a:xfrm>
          <a:prstGeom prst="roundRect">
            <a:avLst>
              <a:gd name="adj" fmla="val 22588"/>
            </a:avLst>
          </a:prstGeom>
          <a:solidFill>
            <a:srgbClr val="F8FAFC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963778"/>
            <a:ext cx="47549" cy="961949"/>
          </a:xfrm>
          <a:prstGeom prst="roundRect">
            <a:avLst>
              <a:gd name="adj" fmla="val 45696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" y="1106424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09244" y="132588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Wearables, Patient Surveys, Electronic Health Records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7797" y="963778"/>
            <a:ext cx="3562502" cy="961949"/>
          </a:xfrm>
          <a:prstGeom prst="roundRect">
            <a:avLst>
              <a:gd name="adj" fmla="val 22588"/>
            </a:avLst>
          </a:prstGeom>
          <a:solidFill>
            <a:srgbClr val="F8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317797" y="963778"/>
            <a:ext cx="47549" cy="961949"/>
          </a:xfrm>
          <a:prstGeom prst="roundRect">
            <a:avLst>
              <a:gd name="adj" fmla="val 45696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6455" y="1106424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56455" y="132588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12,500+ Patients (Anonymized)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64094" y="963778"/>
            <a:ext cx="3562502" cy="961949"/>
          </a:xfrm>
          <a:prstGeom prst="roundRect">
            <a:avLst>
              <a:gd name="adj" fmla="val 22588"/>
            </a:avLst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064094" y="963778"/>
            <a:ext cx="47549" cy="961949"/>
          </a:xfrm>
          <a:prstGeom prst="roundRect">
            <a:avLst>
              <a:gd name="adj" fmla="val 45696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02752" y="1106424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302752" y="1325880"/>
            <a:ext cx="3718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Disease Risk Level (Low / Medium / High)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71500" y="2164385"/>
            <a:ext cx="11048695" cy="5772607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" y="2173529"/>
            <a:ext cx="11030407" cy="523951"/>
          </a:xfrm>
          <a:prstGeom prst="roundRect">
            <a:avLst>
              <a:gd name="adj" fmla="val 101539"/>
            </a:avLst>
          </a:prstGeom>
          <a:solidFill>
            <a:srgbClr val="EFF6FF"/>
          </a:solidFill>
          <a:ln/>
        </p:spPr>
      </p:sp>
      <p:sp>
        <p:nvSpPr>
          <p:cNvPr id="20" name="Shape 17"/>
          <p:cNvSpPr/>
          <p:nvPr/>
        </p:nvSpPr>
        <p:spPr>
          <a:xfrm>
            <a:off x="580644" y="2678278"/>
            <a:ext cx="11030407" cy="19202"/>
          </a:xfrm>
          <a:prstGeom prst="roundRect">
            <a:avLst>
              <a:gd name="adj" fmla="val 277062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6851" y="2316175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Name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81121" y="2316175"/>
            <a:ext cx="53437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710574" y="2316175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Type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0644" y="3207715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" y="2835554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929030" y="2893162"/>
            <a:ext cx="105156" cy="1143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90549" y="2835554"/>
            <a:ext cx="1176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481121" y="2856586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Ethnicity, Location (Urban/Rural)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8710574" y="2826410"/>
            <a:ext cx="1495044" cy="247802"/>
          </a:xfrm>
          <a:prstGeom prst="roundRect">
            <a:avLst>
              <a:gd name="adj" fmla="val 36900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680399" y="2826410"/>
            <a:ext cx="155539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Categorical / Numerical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80644" y="3216859"/>
            <a:ext cx="11030407" cy="523951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Shape 28"/>
          <p:cNvSpPr/>
          <p:nvPr/>
        </p:nvSpPr>
        <p:spPr>
          <a:xfrm>
            <a:off x="580644" y="3731666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66851" y="3359506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3544" y="3416198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190549" y="3359506"/>
            <a:ext cx="880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BMI Index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3481121" y="3380537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Body Mass Index calculated from Height and Weight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710574" y="3350362"/>
            <a:ext cx="1143000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8682228" y="3350362"/>
            <a:ext cx="12006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(Float)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80644" y="4255618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66851" y="3883457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929030" y="3940150"/>
            <a:ext cx="105156" cy="11430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190549" y="3883457"/>
            <a:ext cx="1406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Physical Activity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3481121" y="3904488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daily steps, weekly exercise minutes, intensity levels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710574" y="3873398"/>
            <a:ext cx="1019556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682228" y="3873398"/>
            <a:ext cx="10771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(Int)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80644" y="4264762"/>
            <a:ext cx="11030407" cy="523951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7" name="Shape 41"/>
          <p:cNvSpPr/>
          <p:nvPr/>
        </p:nvSpPr>
        <p:spPr>
          <a:xfrm>
            <a:off x="580644" y="4779569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66851" y="4407408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909828" y="4464101"/>
            <a:ext cx="142646" cy="1143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190549" y="4407408"/>
            <a:ext cx="1270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Sleep Patterns</a:t>
            </a:r>
            <a:endParaRPr lang="en-US" sz="1200" dirty="0"/>
          </a:p>
        </p:txBody>
      </p:sp>
      <p:sp>
        <p:nvSpPr>
          <p:cNvPr id="51" name="Text 44"/>
          <p:cNvSpPr txBox="1"/>
          <p:nvPr/>
        </p:nvSpPr>
        <p:spPr>
          <a:xfrm>
            <a:off x="3481121" y="4428439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hours of sleep per night, sleep quality score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8710574" y="4397350"/>
            <a:ext cx="1143000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8682228" y="4397350"/>
            <a:ext cx="12006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(Float)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580644" y="5302606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66851" y="4931359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3544" y="4988052"/>
            <a:ext cx="114300" cy="114300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190549" y="4931359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Blood Pressure</a:t>
            </a:r>
            <a:endParaRPr lang="en-US" sz="1200" dirty="0"/>
          </a:p>
        </p:txBody>
      </p:sp>
      <p:sp>
        <p:nvSpPr>
          <p:cNvPr id="58" name="Text 50"/>
          <p:cNvSpPr txBox="1"/>
          <p:nvPr/>
        </p:nvSpPr>
        <p:spPr>
          <a:xfrm>
            <a:off x="3481121" y="4952390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Systolic and Diastolic readings (mmHg)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8710574" y="4921301"/>
            <a:ext cx="1019556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682228" y="4921301"/>
            <a:ext cx="10771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(Int)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580644" y="5311750"/>
            <a:ext cx="11030407" cy="523951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62" name="Shape 54"/>
          <p:cNvSpPr/>
          <p:nvPr/>
        </p:nvSpPr>
        <p:spPr>
          <a:xfrm>
            <a:off x="580644" y="5826557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66851" y="545531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938174" y="5512003"/>
            <a:ext cx="85954" cy="114300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1190549" y="5455310"/>
            <a:ext cx="12015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Glucose Level</a:t>
            </a:r>
            <a:endParaRPr lang="en-US" sz="1200" dirty="0"/>
          </a:p>
        </p:txBody>
      </p:sp>
      <p:sp>
        <p:nvSpPr>
          <p:cNvPr id="66" name="Text 57"/>
          <p:cNvSpPr txBox="1"/>
          <p:nvPr/>
        </p:nvSpPr>
        <p:spPr>
          <a:xfrm>
            <a:off x="3481121" y="5476342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Fasting blood sugar levels (mg/dL)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8710574" y="5445252"/>
            <a:ext cx="1019556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8682228" y="5445252"/>
            <a:ext cx="10771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(Int)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580644" y="6350508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>
            <a:off x="866851" y="5979262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909828" y="6035954"/>
            <a:ext cx="142646" cy="114300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1190549" y="5979262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Family History</a:t>
            </a:r>
            <a:endParaRPr lang="en-US" sz="1200" dirty="0"/>
          </a:p>
        </p:txBody>
      </p:sp>
      <p:sp>
        <p:nvSpPr>
          <p:cNvPr id="73" name="Text 63"/>
          <p:cNvSpPr txBox="1"/>
          <p:nvPr/>
        </p:nvSpPr>
        <p:spPr>
          <a:xfrm>
            <a:off x="3481121" y="6000293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Presence of hereditary diseases in immediate family</a:t>
            </a:r>
            <a:endParaRPr lang="en-US" sz="1000" dirty="0"/>
          </a:p>
        </p:txBody>
      </p:sp>
      <p:sp>
        <p:nvSpPr>
          <p:cNvPr id="74" name="Shape 64"/>
          <p:cNvSpPr/>
          <p:nvPr/>
        </p:nvSpPr>
        <p:spPr>
          <a:xfrm>
            <a:off x="8710574" y="5969203"/>
            <a:ext cx="1143000" cy="247802"/>
          </a:xfrm>
          <a:prstGeom prst="roundRect">
            <a:avLst>
              <a:gd name="adj" fmla="val 369004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8682228" y="5969203"/>
            <a:ext cx="1200607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Boolean (Yes/No)</a:t>
            </a:r>
            <a:endParaRPr lang="en-US" sz="900" dirty="0"/>
          </a:p>
        </p:txBody>
      </p:sp>
      <p:sp>
        <p:nvSpPr>
          <p:cNvPr id="76" name="Shape 66"/>
          <p:cNvSpPr/>
          <p:nvPr/>
        </p:nvSpPr>
        <p:spPr>
          <a:xfrm>
            <a:off x="580644" y="6359652"/>
            <a:ext cx="11030407" cy="523951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77" name="Shape 67"/>
          <p:cNvSpPr/>
          <p:nvPr/>
        </p:nvSpPr>
        <p:spPr>
          <a:xfrm>
            <a:off x="580644" y="6874459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866851" y="6502298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29030" y="6559906"/>
            <a:ext cx="105156" cy="114300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1190549" y="6502298"/>
            <a:ext cx="13944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Diet &amp; Nutrition</a:t>
            </a:r>
            <a:endParaRPr lang="en-US" sz="1200" dirty="0"/>
          </a:p>
        </p:txBody>
      </p:sp>
      <p:sp>
        <p:nvSpPr>
          <p:cNvPr id="81" name="Text 70"/>
          <p:cNvSpPr txBox="1"/>
          <p:nvPr/>
        </p:nvSpPr>
        <p:spPr>
          <a:xfrm>
            <a:off x="3481121" y="6523330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Caloric intake, fruit/veg consumption frequency</a:t>
            </a:r>
            <a:endParaRPr lang="en-US" sz="1000" dirty="0"/>
          </a:p>
        </p:txBody>
      </p:sp>
      <p:sp>
        <p:nvSpPr>
          <p:cNvPr id="82" name="Shape 71"/>
          <p:cNvSpPr/>
          <p:nvPr/>
        </p:nvSpPr>
        <p:spPr>
          <a:xfrm>
            <a:off x="8710574" y="6493154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2"/>
          <p:cNvSpPr/>
          <p:nvPr/>
        </p:nvSpPr>
        <p:spPr>
          <a:xfrm>
            <a:off x="8682228" y="6493154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Categorical (Ordinal)</a:t>
            </a:r>
            <a:endParaRPr lang="en-US" sz="900" dirty="0"/>
          </a:p>
        </p:txBody>
      </p:sp>
      <p:sp>
        <p:nvSpPr>
          <p:cNvPr id="84" name="Shape 73"/>
          <p:cNvSpPr/>
          <p:nvPr/>
        </p:nvSpPr>
        <p:spPr>
          <a:xfrm>
            <a:off x="580644" y="7398410"/>
            <a:ext cx="110304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866851" y="7026250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23544" y="7083857"/>
            <a:ext cx="114300" cy="114300"/>
          </a:xfrm>
          <a:prstGeom prst="rect">
            <a:avLst/>
          </a:prstGeom>
        </p:spPr>
      </p:pic>
      <p:sp>
        <p:nvSpPr>
          <p:cNvPr id="87" name="Text 75"/>
          <p:cNvSpPr txBox="1"/>
          <p:nvPr/>
        </p:nvSpPr>
        <p:spPr>
          <a:xfrm>
            <a:off x="1190549" y="7026250"/>
            <a:ext cx="1122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Stress Levels</a:t>
            </a:r>
            <a:endParaRPr lang="en-US" sz="1200" dirty="0"/>
          </a:p>
        </p:txBody>
      </p:sp>
      <p:sp>
        <p:nvSpPr>
          <p:cNvPr id="88" name="Text 76"/>
          <p:cNvSpPr txBox="1"/>
          <p:nvPr/>
        </p:nvSpPr>
        <p:spPr>
          <a:xfrm>
            <a:off x="3481121" y="7047281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Self-reported stress score (1-10 scale) or cortisol indicators</a:t>
            </a:r>
            <a:endParaRPr lang="en-US" sz="1000" dirty="0"/>
          </a:p>
        </p:txBody>
      </p:sp>
      <p:sp>
        <p:nvSpPr>
          <p:cNvPr id="89" name="Shape 77"/>
          <p:cNvSpPr/>
          <p:nvPr/>
        </p:nvSpPr>
        <p:spPr>
          <a:xfrm>
            <a:off x="8710574" y="7017106"/>
            <a:ext cx="1019556" cy="247802"/>
          </a:xfrm>
          <a:prstGeom prst="roundRect">
            <a:avLst>
              <a:gd name="adj" fmla="val 369004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8"/>
          <p:cNvSpPr/>
          <p:nvPr/>
        </p:nvSpPr>
        <p:spPr>
          <a:xfrm>
            <a:off x="8682228" y="7017106"/>
            <a:ext cx="10771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Numerical (Int)</a:t>
            </a:r>
            <a:endParaRPr lang="en-US" sz="900" dirty="0"/>
          </a:p>
        </p:txBody>
      </p:sp>
      <p:sp>
        <p:nvSpPr>
          <p:cNvPr id="91" name="Shape 79"/>
          <p:cNvSpPr/>
          <p:nvPr/>
        </p:nvSpPr>
        <p:spPr>
          <a:xfrm>
            <a:off x="580644" y="7407554"/>
            <a:ext cx="11030407" cy="514807"/>
          </a:xfrm>
          <a:prstGeom prst="roundRect">
            <a:avLst>
              <a:gd name="adj" fmla="val 105256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0"/>
          <p:cNvSpPr/>
          <p:nvPr/>
        </p:nvSpPr>
        <p:spPr>
          <a:xfrm>
            <a:off x="866851" y="7550201"/>
            <a:ext cx="228600" cy="2286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23544" y="7607808"/>
            <a:ext cx="114300" cy="114300"/>
          </a:xfrm>
          <a:prstGeom prst="rect">
            <a:avLst/>
          </a:prstGeom>
        </p:spPr>
      </p:pic>
      <p:sp>
        <p:nvSpPr>
          <p:cNvPr id="94" name="Text 81"/>
          <p:cNvSpPr txBox="1"/>
          <p:nvPr/>
        </p:nvSpPr>
        <p:spPr>
          <a:xfrm>
            <a:off x="1190549" y="7550201"/>
            <a:ext cx="1360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Prediction</a:t>
            </a:r>
            <a:endParaRPr lang="en-US" sz="1200" dirty="0"/>
          </a:p>
        </p:txBody>
      </p:sp>
      <p:sp>
        <p:nvSpPr>
          <p:cNvPr id="95" name="Text 82"/>
          <p:cNvSpPr txBox="1"/>
          <p:nvPr/>
        </p:nvSpPr>
        <p:spPr>
          <a:xfrm>
            <a:off x="3481121" y="7571232"/>
            <a:ext cx="5343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Likelihood of disease onset within 5 years</a:t>
            </a:r>
            <a:endParaRPr lang="en-US" sz="1000" dirty="0"/>
          </a:p>
        </p:txBody>
      </p:sp>
      <p:sp>
        <p:nvSpPr>
          <p:cNvPr id="96" name="Shape 83"/>
          <p:cNvSpPr/>
          <p:nvPr/>
        </p:nvSpPr>
        <p:spPr>
          <a:xfrm>
            <a:off x="8710574" y="7541057"/>
            <a:ext cx="1037844" cy="247802"/>
          </a:xfrm>
          <a:prstGeom prst="roundRect">
            <a:avLst>
              <a:gd name="adj" fmla="val 369004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84"/>
          <p:cNvSpPr/>
          <p:nvPr/>
        </p:nvSpPr>
        <p:spPr>
          <a:xfrm>
            <a:off x="8682228" y="7541057"/>
            <a:ext cx="10954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98" name="Shape 85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99" name="Text 86"/>
          <p:cNvSpPr txBox="1"/>
          <p:nvPr/>
        </p:nvSpPr>
        <p:spPr>
          <a:xfrm>
            <a:off x="571500" y="0"/>
            <a:ext cx="423001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Description</a:t>
            </a:r>
            <a:endParaRPr lang="en-US" sz="2700" dirty="0"/>
          </a:p>
        </p:txBody>
      </p:sp>
      <p:sp>
        <p:nvSpPr>
          <p:cNvPr id="100" name="Text 87"/>
          <p:cNvSpPr txBox="1"/>
          <p:nvPr/>
        </p:nvSpPr>
        <p:spPr>
          <a:xfrm>
            <a:off x="571500" y="449885"/>
            <a:ext cx="4638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overview of features and variables</a:t>
            </a:r>
            <a:endParaRPr lang="en-US" sz="1200" dirty="0"/>
          </a:p>
        </p:txBody>
      </p:sp>
      <p:pic>
        <p:nvPicPr>
          <p:cNvPr id="101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11220602" y="110642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7" r="-7" t="0" b="0"/>
          <a:stretch/>
        </p:blipFill>
        <p:spPr>
          <a:xfrm>
            <a:off x="0" y="1429207"/>
            <a:ext cx="12191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952805" y="2238451"/>
            <a:ext cx="10287000" cy="3840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0354" y="1809598"/>
            <a:ext cx="857707" cy="857707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1238098" y="2085746"/>
            <a:ext cx="381305" cy="304495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38451" y="1666951"/>
            <a:ext cx="286207" cy="28620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210105" y="1666951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81305" y="2905049"/>
            <a:ext cx="2095805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Shape 5"/>
          <p:cNvSpPr/>
          <p:nvPr/>
        </p:nvSpPr>
        <p:spPr>
          <a:xfrm>
            <a:off x="381305" y="2905049"/>
            <a:ext cx="2095805" cy="38405"/>
          </a:xfrm>
          <a:prstGeom prst="roundRect">
            <a:avLst>
              <a:gd name="adj" fmla="val 33613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497434" y="3133649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715061" y="3629254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Collection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-1648" r="-1648" t="0" b="0"/>
          <a:stretch/>
        </p:blipFill>
        <p:spPr>
          <a:xfrm>
            <a:off x="629107" y="3629254"/>
            <a:ext cx="85954" cy="9509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15061" y="3859682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Validation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629107" y="3859682"/>
            <a:ext cx="85954" cy="9509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715061" y="4090111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Raw Data Storage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629107" y="4090111"/>
            <a:ext cx="85954" cy="95098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333902" y="1809598"/>
            <a:ext cx="857707" cy="857707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rcRect l="-50" r="-50" t="0" b="0"/>
          <a:stretch/>
        </p:blipFill>
        <p:spPr>
          <a:xfrm>
            <a:off x="3590849" y="2085746"/>
            <a:ext cx="342900" cy="304495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72000" y="1666951"/>
            <a:ext cx="286207" cy="286207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4543654" y="1666951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11"/>
          <p:cNvSpPr/>
          <p:nvPr/>
        </p:nvSpPr>
        <p:spPr>
          <a:xfrm>
            <a:off x="2714854" y="2905049"/>
            <a:ext cx="2095805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25" name="Shape 12"/>
          <p:cNvSpPr/>
          <p:nvPr/>
        </p:nvSpPr>
        <p:spPr>
          <a:xfrm>
            <a:off x="2714854" y="2905049"/>
            <a:ext cx="2095805" cy="38405"/>
          </a:xfrm>
          <a:prstGeom prst="roundRect">
            <a:avLst>
              <a:gd name="adj" fmla="val 336133"/>
            </a:avLst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26" name="Text 13"/>
          <p:cNvSpPr txBox="1"/>
          <p:nvPr/>
        </p:nvSpPr>
        <p:spPr>
          <a:xfrm>
            <a:off x="2830982" y="3133649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3048610" y="3629254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</a:t>
            </a:r>
            <a:endParaRPr lang="en-US" sz="9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rcRect l="-1648" r="-1648" t="0" b="0"/>
          <a:stretch/>
        </p:blipFill>
        <p:spPr>
          <a:xfrm>
            <a:off x="2962656" y="3629254"/>
            <a:ext cx="85954" cy="95098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3048610" y="3859682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Imputation</a:t>
            </a:r>
            <a:endParaRPr lang="en-US" sz="9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rcRect l="-1648" r="-1648" t="0" b="0"/>
          <a:stretch/>
        </p:blipFill>
        <p:spPr>
          <a:xfrm>
            <a:off x="2962656" y="3859682"/>
            <a:ext cx="85954" cy="95098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3048610" y="4090111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Normalization</a:t>
            </a:r>
            <a:endParaRPr lang="en-US" sz="9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rcRect l="-1648" r="-1648" t="0" b="0"/>
          <a:stretch/>
        </p:blipFill>
        <p:spPr>
          <a:xfrm>
            <a:off x="2962656" y="4090111"/>
            <a:ext cx="85954" cy="95098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667451" y="1809598"/>
            <a:ext cx="857707" cy="857707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rcRect l="-107" r="-107" t="0" b="0"/>
          <a:stretch/>
        </p:blipFill>
        <p:spPr>
          <a:xfrm>
            <a:off x="5962802" y="2085746"/>
            <a:ext cx="267005" cy="304495"/>
          </a:xfrm>
          <a:prstGeom prst="rect">
            <a:avLst/>
          </a:prstGeom>
        </p:spPr>
      </p:pic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6905549" y="1666951"/>
            <a:ext cx="286207" cy="286207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6877202" y="1666951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18"/>
          <p:cNvSpPr/>
          <p:nvPr/>
        </p:nvSpPr>
        <p:spPr>
          <a:xfrm>
            <a:off x="5048402" y="2905049"/>
            <a:ext cx="2095805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38" name="Shape 19"/>
          <p:cNvSpPr/>
          <p:nvPr/>
        </p:nvSpPr>
        <p:spPr>
          <a:xfrm>
            <a:off x="5048402" y="2905049"/>
            <a:ext cx="2095805" cy="38405"/>
          </a:xfrm>
          <a:prstGeom prst="roundRect">
            <a:avLst>
              <a:gd name="adj" fmla="val 3361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20"/>
          <p:cNvSpPr txBox="1"/>
          <p:nvPr/>
        </p:nvSpPr>
        <p:spPr>
          <a:xfrm>
            <a:off x="5164531" y="3133649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40" name="Text 21"/>
          <p:cNvSpPr txBox="1"/>
          <p:nvPr/>
        </p:nvSpPr>
        <p:spPr>
          <a:xfrm>
            <a:off x="5382158" y="3629254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Selection</a:t>
            </a:r>
            <a:endParaRPr lang="en-US" sz="900" dirty="0"/>
          </a:p>
        </p:txBody>
      </p:sp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8"/>
          <a:srcRect l="-1648" r="-1648" t="0" b="0"/>
          <a:stretch/>
        </p:blipFill>
        <p:spPr>
          <a:xfrm>
            <a:off x="5296205" y="3629254"/>
            <a:ext cx="85954" cy="95098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5382158" y="3859682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Dimensionality Red.</a:t>
            </a:r>
            <a:endParaRPr lang="en-US" sz="900" dirty="0"/>
          </a:p>
        </p:txBody>
      </p:sp>
      <p:pic>
        <p:nvPicPr>
          <p:cNvPr id="43" name="Image 18" descr="preencoded.png">    </p:cNvPr>
          <p:cNvPicPr>
            <a:picLocks noChangeAspect="1"/>
          </p:cNvPicPr>
          <p:nvPr/>
        </p:nvPicPr>
        <p:blipFill>
          <a:blip r:embed="rId19"/>
          <a:srcRect l="-1648" r="-1648" t="0" b="0"/>
          <a:stretch/>
        </p:blipFill>
        <p:spPr>
          <a:xfrm>
            <a:off x="5296205" y="3859682"/>
            <a:ext cx="85954" cy="95098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5382158" y="4090111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Transformation</a:t>
            </a:r>
            <a:endParaRPr lang="en-US" sz="900" dirty="0"/>
          </a:p>
        </p:txBody>
      </p:sp>
      <p:pic>
        <p:nvPicPr>
          <p:cNvPr id="45" name="Image 19" descr="preencoded.png">    </p:cNvPr>
          <p:cNvPicPr>
            <a:picLocks noChangeAspect="1"/>
          </p:cNvPicPr>
          <p:nvPr/>
        </p:nvPicPr>
        <p:blipFill>
          <a:blip r:embed="rId20"/>
          <a:srcRect l="-1648" r="-1648" t="0" b="0"/>
          <a:stretch/>
        </p:blipFill>
        <p:spPr>
          <a:xfrm>
            <a:off x="5296205" y="4090111"/>
            <a:ext cx="85954" cy="95098"/>
          </a:xfrm>
          <a:prstGeom prst="rect">
            <a:avLst/>
          </a:prstGeom>
        </p:spPr>
      </p:pic>
      <p:pic>
        <p:nvPicPr>
          <p:cNvPr id="4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8001000" y="1809598"/>
            <a:ext cx="857707" cy="857707"/>
          </a:xfrm>
          <a:prstGeom prst="rect">
            <a:avLst/>
          </a:prstGeom>
        </p:spPr>
      </p:pic>
      <p:pic>
        <p:nvPicPr>
          <p:cNvPr id="4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8277149" y="2085746"/>
            <a:ext cx="304495" cy="304495"/>
          </a:xfrm>
          <a:prstGeom prst="rect">
            <a:avLst/>
          </a:prstGeom>
        </p:spPr>
      </p:pic>
      <p:pic>
        <p:nvPicPr>
          <p:cNvPr id="4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9239098" y="1666951"/>
            <a:ext cx="286207" cy="286207"/>
          </a:xfrm>
          <a:prstGeom prst="rect">
            <a:avLst/>
          </a:prstGeom>
        </p:spPr>
      </p:pic>
      <p:sp>
        <p:nvSpPr>
          <p:cNvPr id="49" name="Text 24"/>
          <p:cNvSpPr/>
          <p:nvPr/>
        </p:nvSpPr>
        <p:spPr>
          <a:xfrm>
            <a:off x="9210751" y="1666951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Shape 25"/>
          <p:cNvSpPr/>
          <p:nvPr/>
        </p:nvSpPr>
        <p:spPr>
          <a:xfrm>
            <a:off x="7381951" y="2905049"/>
            <a:ext cx="2095805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51" name="Shape 26"/>
          <p:cNvSpPr/>
          <p:nvPr/>
        </p:nvSpPr>
        <p:spPr>
          <a:xfrm>
            <a:off x="7381951" y="2905049"/>
            <a:ext cx="2095805" cy="38405"/>
          </a:xfrm>
          <a:prstGeom prst="roundRect">
            <a:avLst>
              <a:gd name="adj" fmla="val 33613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2" name="Text 27"/>
          <p:cNvSpPr txBox="1"/>
          <p:nvPr/>
        </p:nvSpPr>
        <p:spPr>
          <a:xfrm>
            <a:off x="7498080" y="3133649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53" name="Text 28"/>
          <p:cNvSpPr txBox="1"/>
          <p:nvPr/>
        </p:nvSpPr>
        <p:spPr>
          <a:xfrm>
            <a:off x="7715707" y="3629254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Selection</a:t>
            </a:r>
            <a:endParaRPr lang="en-US" sz="900" dirty="0"/>
          </a:p>
        </p:txBody>
      </p:sp>
      <p:pic>
        <p:nvPicPr>
          <p:cNvPr id="54" name="Image 23" descr="preencoded.png">    </p:cNvPr>
          <p:cNvPicPr>
            <a:picLocks noChangeAspect="1"/>
          </p:cNvPicPr>
          <p:nvPr/>
        </p:nvPicPr>
        <p:blipFill>
          <a:blip r:embed="rId24"/>
          <a:srcRect l="-1648" r="-1648" t="0" b="0"/>
          <a:stretch/>
        </p:blipFill>
        <p:spPr>
          <a:xfrm>
            <a:off x="7629754" y="3629254"/>
            <a:ext cx="85954" cy="95098"/>
          </a:xfrm>
          <a:prstGeom prst="rect">
            <a:avLst/>
          </a:prstGeom>
        </p:spPr>
      </p:pic>
      <p:sp>
        <p:nvSpPr>
          <p:cNvPr id="55" name="Text 29"/>
          <p:cNvSpPr txBox="1"/>
          <p:nvPr/>
        </p:nvSpPr>
        <p:spPr>
          <a:xfrm>
            <a:off x="7715707" y="3859682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Hyperparam Tuning</a:t>
            </a:r>
            <a:endParaRPr lang="en-US" sz="900" dirty="0"/>
          </a:p>
        </p:txBody>
      </p:sp>
      <p:pic>
        <p:nvPicPr>
          <p:cNvPr id="56" name="Image 24" descr="preencoded.png">    </p:cNvPr>
          <p:cNvPicPr>
            <a:picLocks noChangeAspect="1"/>
          </p:cNvPicPr>
          <p:nvPr/>
        </p:nvPicPr>
        <p:blipFill>
          <a:blip r:embed="rId25"/>
          <a:srcRect l="-1648" r="-1648" t="0" b="0"/>
          <a:stretch/>
        </p:blipFill>
        <p:spPr>
          <a:xfrm>
            <a:off x="7629754" y="3859682"/>
            <a:ext cx="85954" cy="95098"/>
          </a:xfrm>
          <a:prstGeom prst="rect">
            <a:avLst/>
          </a:prstGeom>
        </p:spPr>
      </p:pic>
      <p:sp>
        <p:nvSpPr>
          <p:cNvPr id="57" name="Text 30"/>
          <p:cNvSpPr txBox="1"/>
          <p:nvPr/>
        </p:nvSpPr>
        <p:spPr>
          <a:xfrm>
            <a:off x="7715707" y="4090111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Cross-Validation</a:t>
            </a:r>
            <a:endParaRPr lang="en-US" sz="900" dirty="0"/>
          </a:p>
        </p:txBody>
      </p:sp>
      <p:pic>
        <p:nvPicPr>
          <p:cNvPr id="58" name="Image 25" descr="preencoded.png">    </p:cNvPr>
          <p:cNvPicPr>
            <a:picLocks noChangeAspect="1"/>
          </p:cNvPicPr>
          <p:nvPr/>
        </p:nvPicPr>
        <p:blipFill>
          <a:blip r:embed="rId26"/>
          <a:srcRect l="-1648" r="-1648" t="0" b="0"/>
          <a:stretch/>
        </p:blipFill>
        <p:spPr>
          <a:xfrm>
            <a:off x="7629754" y="4090111"/>
            <a:ext cx="85954" cy="95098"/>
          </a:xfrm>
          <a:prstGeom prst="rect">
            <a:avLst/>
          </a:prstGeom>
        </p:spPr>
      </p:pic>
      <p:pic>
        <p:nvPicPr>
          <p:cNvPr id="59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10334549" y="1809598"/>
            <a:ext cx="857707" cy="857707"/>
          </a:xfrm>
          <a:prstGeom prst="rect">
            <a:avLst/>
          </a:prstGeom>
        </p:spPr>
      </p:pic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10610698" y="2085746"/>
            <a:ext cx="304495" cy="304495"/>
          </a:xfrm>
          <a:prstGeom prst="rect">
            <a:avLst/>
          </a:prstGeom>
        </p:spPr>
      </p:pic>
      <p:pic>
        <p:nvPicPr>
          <p:cNvPr id="61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11572646" y="1666951"/>
            <a:ext cx="286207" cy="286207"/>
          </a:xfrm>
          <a:prstGeom prst="rect">
            <a:avLst/>
          </a:prstGeom>
        </p:spPr>
      </p:pic>
      <p:sp>
        <p:nvSpPr>
          <p:cNvPr id="62" name="Text 31"/>
          <p:cNvSpPr/>
          <p:nvPr/>
        </p:nvSpPr>
        <p:spPr>
          <a:xfrm>
            <a:off x="11544300" y="1666951"/>
            <a:ext cx="342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3" name="Shape 32"/>
          <p:cNvSpPr/>
          <p:nvPr/>
        </p:nvSpPr>
        <p:spPr>
          <a:xfrm>
            <a:off x="9715500" y="2905049"/>
            <a:ext cx="2095805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5000"/>
              </a:srgbClr>
            </a:outerShdw>
          </a:effectLst>
        </p:spPr>
      </p:sp>
      <p:sp>
        <p:nvSpPr>
          <p:cNvPr id="64" name="Shape 33"/>
          <p:cNvSpPr/>
          <p:nvPr/>
        </p:nvSpPr>
        <p:spPr>
          <a:xfrm>
            <a:off x="9715500" y="2905049"/>
            <a:ext cx="2095805" cy="38405"/>
          </a:xfrm>
          <a:prstGeom prst="roundRect">
            <a:avLst>
              <a:gd name="adj" fmla="val 336133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5" name="Text 34"/>
          <p:cNvSpPr txBox="1"/>
          <p:nvPr/>
        </p:nvSpPr>
        <p:spPr>
          <a:xfrm>
            <a:off x="9831629" y="3133649"/>
            <a:ext cx="18626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66" name="Text 35"/>
          <p:cNvSpPr txBox="1"/>
          <p:nvPr/>
        </p:nvSpPr>
        <p:spPr>
          <a:xfrm>
            <a:off x="10049256" y="3629254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Eval</a:t>
            </a:r>
            <a:endParaRPr lang="en-US" sz="900" dirty="0"/>
          </a:p>
        </p:txBody>
      </p:sp>
      <p:pic>
        <p:nvPicPr>
          <p:cNvPr id="67" name="Image 29" descr="preencoded.png">    </p:cNvPr>
          <p:cNvPicPr>
            <a:picLocks noChangeAspect="1"/>
          </p:cNvPicPr>
          <p:nvPr/>
        </p:nvPicPr>
        <p:blipFill>
          <a:blip r:embed="rId30"/>
          <a:srcRect l="-1648" r="-1648" t="0" b="0"/>
          <a:stretch/>
        </p:blipFill>
        <p:spPr>
          <a:xfrm>
            <a:off x="9963302" y="3629254"/>
            <a:ext cx="85954" cy="95098"/>
          </a:xfrm>
          <a:prstGeom prst="rect">
            <a:avLst/>
          </a:prstGeom>
        </p:spPr>
      </p:pic>
      <p:sp>
        <p:nvSpPr>
          <p:cNvPr id="68" name="Text 36"/>
          <p:cNvSpPr txBox="1"/>
          <p:nvPr/>
        </p:nvSpPr>
        <p:spPr>
          <a:xfrm>
            <a:off x="10049256" y="3859682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Interpretation</a:t>
            </a:r>
            <a:endParaRPr lang="en-US" sz="900" dirty="0"/>
          </a:p>
        </p:txBody>
      </p:sp>
      <p:pic>
        <p:nvPicPr>
          <p:cNvPr id="69" name="Image 30" descr="preencoded.png">    </p:cNvPr>
          <p:cNvPicPr>
            <a:picLocks noChangeAspect="1"/>
          </p:cNvPicPr>
          <p:nvPr/>
        </p:nvPicPr>
        <p:blipFill>
          <a:blip r:embed="rId31"/>
          <a:srcRect l="-1648" r="-1648" t="0" b="0"/>
          <a:stretch/>
        </p:blipFill>
        <p:spPr>
          <a:xfrm>
            <a:off x="9963302" y="3859682"/>
            <a:ext cx="85954" cy="95098"/>
          </a:xfrm>
          <a:prstGeom prst="rect">
            <a:avLst/>
          </a:prstGeom>
        </p:spPr>
      </p:pic>
      <p:sp>
        <p:nvSpPr>
          <p:cNvPr id="70" name="Text 37"/>
          <p:cNvSpPr txBox="1"/>
          <p:nvPr/>
        </p:nvSpPr>
        <p:spPr>
          <a:xfrm>
            <a:off x="10049256" y="4090111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Packaging</a:t>
            </a:r>
            <a:endParaRPr lang="en-US" sz="900" dirty="0"/>
          </a:p>
        </p:txBody>
      </p:sp>
      <p:pic>
        <p:nvPicPr>
          <p:cNvPr id="71" name="Image 31" descr="preencoded.png">    </p:cNvPr>
          <p:cNvPicPr>
            <a:picLocks noChangeAspect="1"/>
          </p:cNvPicPr>
          <p:nvPr/>
        </p:nvPicPr>
        <p:blipFill>
          <a:blip r:embed="rId32"/>
          <a:srcRect l="-1648" r="-1648" t="0" b="0"/>
          <a:stretch/>
        </p:blipFill>
        <p:spPr>
          <a:xfrm>
            <a:off x="9963302" y="4090111"/>
            <a:ext cx="85954" cy="95098"/>
          </a:xfrm>
          <a:prstGeom prst="rect">
            <a:avLst/>
          </a:prstGeom>
        </p:spPr>
      </p:pic>
      <p:sp>
        <p:nvSpPr>
          <p:cNvPr id="72" name="Shape 38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73" name="Text 39"/>
          <p:cNvSpPr txBox="1"/>
          <p:nvPr/>
        </p:nvSpPr>
        <p:spPr>
          <a:xfrm>
            <a:off x="571500" y="232258"/>
            <a:ext cx="37719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74" name="Text 40"/>
          <p:cNvSpPr txBox="1"/>
          <p:nvPr/>
        </p:nvSpPr>
        <p:spPr>
          <a:xfrm>
            <a:off x="571500" y="682142"/>
            <a:ext cx="4233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5-Stage End-to-End Machine Learning Pipeline</a:t>
            </a:r>
            <a:endParaRPr lang="en-US" sz="1200" dirty="0"/>
          </a:p>
        </p:txBody>
      </p:sp>
      <p:pic>
        <p:nvPicPr>
          <p:cNvPr id="75" name="Image 32" descr="preencoded.png">    </p:cNvPr>
          <p:cNvPicPr>
            <a:picLocks noChangeAspect="1"/>
          </p:cNvPicPr>
          <p:nvPr/>
        </p:nvPicPr>
        <p:blipFill>
          <a:blip r:embed="rId33"/>
          <a:srcRect l="-365" r="-365" t="0" b="0"/>
          <a:stretch/>
        </p:blipFill>
        <p:spPr>
          <a:xfrm>
            <a:off x="11020349" y="333756"/>
            <a:ext cx="599846" cy="476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1285646"/>
            <a:ext cx="5524805" cy="2572207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743761"/>
            <a:ext cx="51242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9361" y="1438351"/>
            <a:ext cx="1808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Feature Distribution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6756"/>
            <a:ext cx="152705" cy="15270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" b="-40"/>
          <a:stretch/>
        </p:blipFill>
        <p:spPr>
          <a:xfrm>
            <a:off x="676656" y="3232404"/>
            <a:ext cx="5124298" cy="4727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8446" y="3309214"/>
            <a:ext cx="4934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BMI and Glucose levels show a right-skewed distribution, indicating a segment of the population with significantly higher risk factors.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191402" y="1285646"/>
            <a:ext cx="5524805" cy="2572207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91656" y="1743761"/>
            <a:ext cx="51242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44361" y="1438351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Correlation Heatmap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91656" y="1476756"/>
            <a:ext cx="152705" cy="15270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" b="-40"/>
          <a:stretch/>
        </p:blipFill>
        <p:spPr>
          <a:xfrm>
            <a:off x="6391656" y="3232404"/>
            <a:ext cx="5124298" cy="47274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43446" y="3309214"/>
            <a:ext cx="4934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Strong positive correlation (0.72) observed between Age and Blood Pressure. Glucose levels correlate moderately with the target variable.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76402" y="4048049"/>
            <a:ext cx="5524805" cy="2572207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76656" y="4506163"/>
            <a:ext cx="51242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848563" y="4200754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Target Variable Balance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676656" y="4238244"/>
            <a:ext cx="171907" cy="152705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" b="-40"/>
          <a:stretch/>
        </p:blipFill>
        <p:spPr>
          <a:xfrm>
            <a:off x="676656" y="5994806"/>
            <a:ext cx="5124298" cy="47274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8446" y="6071616"/>
            <a:ext cx="4934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dataset is imbalanced with only 15% positive cases (Disease Detected), necessitating resampling techniques like SMOTE.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6191402" y="4048049"/>
            <a:ext cx="5524805" cy="2572207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391656" y="4506163"/>
            <a:ext cx="51242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544361" y="4200754"/>
            <a:ext cx="151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Outlier Detection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91656" y="4238244"/>
            <a:ext cx="152705" cy="152705"/>
          </a:xfrm>
          <a:prstGeom prst="rect">
            <a:avLst/>
          </a:prstGeom>
        </p:spPr>
      </p:pic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0" b="-40"/>
          <a:stretch/>
        </p:blipFill>
        <p:spPr>
          <a:xfrm>
            <a:off x="6391656" y="5994806"/>
            <a:ext cx="5124298" cy="47274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543446" y="6071616"/>
            <a:ext cx="4934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Action: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 outliers detected in Insulin and BMI features. Robust scaling will be applied to minimize model sensitivity.</a:t>
            </a:r>
            <a:endParaRPr lang="en-US" sz="9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384" b="-384"/>
          <a:stretch/>
        </p:blipFill>
        <p:spPr>
          <a:xfrm>
            <a:off x="676656" y="1848002"/>
            <a:ext cx="5124298" cy="1314907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84" b="-384"/>
          <a:stretch/>
        </p:blipFill>
        <p:spPr>
          <a:xfrm>
            <a:off x="6391656" y="1848002"/>
            <a:ext cx="5124298" cy="1314907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384" b="-384"/>
          <a:stretch/>
        </p:blipFill>
        <p:spPr>
          <a:xfrm>
            <a:off x="676656" y="4610405"/>
            <a:ext cx="5124298" cy="1314907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384" b="-384"/>
          <a:stretch/>
        </p:blipFill>
        <p:spPr>
          <a:xfrm>
            <a:off x="6391656" y="4610405"/>
            <a:ext cx="5124298" cy="1314907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0" y="0"/>
            <a:ext cx="12191695" cy="1047902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3" name="Text 19"/>
          <p:cNvSpPr txBox="1"/>
          <p:nvPr/>
        </p:nvSpPr>
        <p:spPr>
          <a:xfrm>
            <a:off x="571500" y="207569"/>
            <a:ext cx="51819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34" name="Text 20"/>
          <p:cNvSpPr txBox="1"/>
          <p:nvPr/>
        </p:nvSpPr>
        <p:spPr>
          <a:xfrm>
            <a:off x="571500" y="611734"/>
            <a:ext cx="5753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Unveiling data patterns, quality issues, and feature relationships</a:t>
            </a:r>
            <a:endParaRPr lang="en-US" sz="12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1192256" y="309982"/>
            <a:ext cx="428854" cy="428854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11753698" y="6515100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00500"/>
            <a:ext cx="12191695" cy="2857500"/>
          </a:xfrm>
          <a:custGeom>
            <a:avLst/>
            <a:gdLst/>
            <a:ahLst/>
            <a:cxnLst/>
            <a:rect l="l" t="t" r="r" b="b"/>
            <a:pathLst>
              <a:path w="12191695" h="2857500">
                <a:moveTo>
                  <a:pt x="0" y="2857500"/>
                </a:moveTo>
                <a:lnTo>
                  <a:pt x="12191695" y="2857500"/>
                </a:lnTo>
                <a:lnTo>
                  <a:pt x="12191695" y="1714500"/>
                </a:lnTo>
                <a:lnTo>
                  <a:pt x="0" y="2286000"/>
                </a:lnTo>
                <a:close/>
              </a:path>
            </a:pathLst>
          </a:cu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" b="-10"/>
          <a:stretch/>
        </p:blipFill>
        <p:spPr>
          <a:xfrm>
            <a:off x="571500" y="1524305"/>
            <a:ext cx="3492094" cy="4953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" y="1533449"/>
            <a:ext cx="3476549" cy="1800454"/>
          </a:xfrm>
          <a:prstGeom prst="roundRect">
            <a:avLst>
              <a:gd name="adj" fmla="val 8599"/>
            </a:avLst>
          </a:prstGeom>
          <a:solidFill>
            <a:srgbClr val="EFF6FF"/>
          </a:solidFill>
          <a:ln/>
        </p:spPr>
      </p:sp>
      <p:sp>
        <p:nvSpPr>
          <p:cNvPr id="7" name="Shape 4"/>
          <p:cNvSpPr/>
          <p:nvPr/>
        </p:nvSpPr>
        <p:spPr>
          <a:xfrm>
            <a:off x="580644" y="3324758"/>
            <a:ext cx="3476549" cy="9144"/>
          </a:xfrm>
          <a:prstGeom prst="roundRect">
            <a:avLst>
              <a:gd name="adj" fmla="val 169312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12594" y="1772107"/>
            <a:ext cx="609905" cy="6099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84502" y="1943100"/>
            <a:ext cx="267005" cy="2670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8545" y="2533802"/>
            <a:ext cx="232257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691640" y="2895905"/>
            <a:ext cx="1257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Model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819302" y="3605479"/>
            <a:ext cx="105156" cy="1143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37844" y="3567074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Serves as a robust baseline for binary classification problems.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819302" y="4157777"/>
            <a:ext cx="105156" cy="1143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37844" y="4119372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Highly interpretable coefficients allow for direct understanding of feature impact.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819302" y="4710074"/>
            <a:ext cx="105156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037844" y="4671670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Computationally efficient and less prone to overfitting on small datasets.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819302" y="5796382"/>
            <a:ext cx="30001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819302" y="5995721"/>
            <a:ext cx="514807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819302" y="5995721"/>
            <a:ext cx="5715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1404518" y="5995721"/>
            <a:ext cx="866851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1404518" y="5995721"/>
            <a:ext cx="9244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Interpretable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2345436" y="5995721"/>
            <a:ext cx="819302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2345436" y="5995721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Probabilistic</a:t>
            </a:r>
            <a:endParaRPr lang="en-US" sz="8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" b="-10"/>
          <a:stretch/>
        </p:blipFill>
        <p:spPr>
          <a:xfrm>
            <a:off x="4349801" y="1524305"/>
            <a:ext cx="3492094" cy="495330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4358945" y="1533449"/>
            <a:ext cx="3476549" cy="1800454"/>
          </a:xfrm>
          <a:prstGeom prst="roundRect">
            <a:avLst>
              <a:gd name="adj" fmla="val 8599"/>
            </a:avLst>
          </a:prstGeom>
          <a:solidFill>
            <a:srgbClr val="ECFDF5"/>
          </a:solidFill>
          <a:ln/>
        </p:spPr>
      </p:sp>
      <p:sp>
        <p:nvSpPr>
          <p:cNvPr id="27" name="Shape 18"/>
          <p:cNvSpPr/>
          <p:nvPr/>
        </p:nvSpPr>
        <p:spPr>
          <a:xfrm>
            <a:off x="4358945" y="3324758"/>
            <a:ext cx="3476549" cy="9144"/>
          </a:xfrm>
          <a:prstGeom prst="roundRect">
            <a:avLst>
              <a:gd name="adj" fmla="val 169312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90895" y="1772107"/>
            <a:ext cx="609905" cy="609905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881" r="-881" t="0" b="0"/>
          <a:stretch/>
        </p:blipFill>
        <p:spPr>
          <a:xfrm>
            <a:off x="5976518" y="1943100"/>
            <a:ext cx="237744" cy="2670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5294376" y="2533802"/>
            <a:ext cx="16102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5385816" y="2895905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Method</a:t>
            </a:r>
            <a:endParaRPr lang="en-US" sz="9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4597603" y="3605479"/>
            <a:ext cx="105156" cy="1143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816145" y="3567074"/>
            <a:ext cx="28575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non-linear relationships and complex interactions between lifestyle variables.</a:t>
            </a:r>
            <a:endParaRPr lang="en-US" sz="10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4597603" y="4358030"/>
            <a:ext cx="105156" cy="11430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4816145" y="4319626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feature importance scores to identify critical risk factors.</a:t>
            </a:r>
            <a:endParaRPr lang="en-US" sz="10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4597603" y="4910328"/>
            <a:ext cx="105156" cy="1143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4816145" y="4871923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outliers and missing data effectively through bagging techniques.</a:t>
            </a:r>
            <a:endParaRPr lang="en-US" sz="1000" dirty="0"/>
          </a:p>
        </p:txBody>
      </p:sp>
      <p:sp>
        <p:nvSpPr>
          <p:cNvPr id="38" name="Shape 24"/>
          <p:cNvSpPr/>
          <p:nvPr/>
        </p:nvSpPr>
        <p:spPr>
          <a:xfrm>
            <a:off x="4597603" y="5796382"/>
            <a:ext cx="30001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9" name="Shape 25"/>
          <p:cNvSpPr/>
          <p:nvPr/>
        </p:nvSpPr>
        <p:spPr>
          <a:xfrm>
            <a:off x="4597603" y="5995721"/>
            <a:ext cx="733349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4597603" y="5995721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Non-linear</a:t>
            </a:r>
            <a:endParaRPr lang="en-US" sz="800" dirty="0"/>
          </a:p>
        </p:txBody>
      </p:sp>
      <p:sp>
        <p:nvSpPr>
          <p:cNvPr id="41" name="Shape 27"/>
          <p:cNvSpPr/>
          <p:nvPr/>
        </p:nvSpPr>
        <p:spPr>
          <a:xfrm>
            <a:off x="5402275" y="5995721"/>
            <a:ext cx="552298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5402275" y="5995721"/>
            <a:ext cx="6099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</a:t>
            </a:r>
            <a:endParaRPr lang="en-US" sz="800" dirty="0"/>
          </a:p>
        </p:txBody>
      </p:sp>
      <p:sp>
        <p:nvSpPr>
          <p:cNvPr id="43" name="Shape 29"/>
          <p:cNvSpPr/>
          <p:nvPr/>
        </p:nvSpPr>
        <p:spPr>
          <a:xfrm>
            <a:off x="6024067" y="5995721"/>
            <a:ext cx="1200607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6024067" y="5995721"/>
            <a:ext cx="12573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Importance</a:t>
            </a:r>
            <a:endParaRPr lang="en-US" sz="8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0" b="-10"/>
          <a:stretch/>
        </p:blipFill>
        <p:spPr>
          <a:xfrm>
            <a:off x="8128102" y="1524305"/>
            <a:ext cx="3492094" cy="4953305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137246" y="1533449"/>
            <a:ext cx="3476549" cy="1800454"/>
          </a:xfrm>
          <a:prstGeom prst="roundRect">
            <a:avLst>
              <a:gd name="adj" fmla="val 8599"/>
            </a:avLst>
          </a:prstGeom>
          <a:solidFill>
            <a:srgbClr val="F5F3FF"/>
          </a:solidFill>
          <a:ln/>
        </p:spPr>
      </p:sp>
      <p:sp>
        <p:nvSpPr>
          <p:cNvPr id="47" name="Shape 32"/>
          <p:cNvSpPr/>
          <p:nvPr/>
        </p:nvSpPr>
        <p:spPr>
          <a:xfrm>
            <a:off x="8137246" y="3324758"/>
            <a:ext cx="3476549" cy="9144"/>
          </a:xfrm>
          <a:prstGeom prst="roundRect">
            <a:avLst>
              <a:gd name="adj" fmla="val 1693122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569196" y="1772107"/>
            <a:ext cx="609905" cy="609905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741103" y="1943100"/>
            <a:ext cx="267005" cy="267005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772754" y="2533802"/>
            <a:ext cx="220827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/ LightGBM</a:t>
            </a:r>
            <a:endParaRPr lang="en-US" sz="1500" dirty="0"/>
          </a:p>
        </p:txBody>
      </p:sp>
      <p:sp>
        <p:nvSpPr>
          <p:cNvPr id="51" name="Text 34"/>
          <p:cNvSpPr txBox="1"/>
          <p:nvPr/>
        </p:nvSpPr>
        <p:spPr>
          <a:xfrm>
            <a:off x="9133027" y="2895905"/>
            <a:ext cx="1485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Performance</a:t>
            </a:r>
            <a:endParaRPr lang="en-US" sz="90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8375904" y="3605479"/>
            <a:ext cx="105156" cy="114300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8594446" y="3567074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State-of-the-art accuracy on structured tabular data by reducing bias and variance.</a:t>
            </a:r>
            <a:endParaRPr lang="en-US" sz="100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8375904" y="4157777"/>
            <a:ext cx="105156" cy="114300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8594446" y="4119372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Optimized for speed and performance with handling of sparse data.</a:t>
            </a:r>
            <a:endParaRPr lang="en-US" sz="1000" dirty="0"/>
          </a:p>
        </p:txBody>
      </p:sp>
      <p:pic>
        <p:nvPicPr>
          <p:cNvPr id="56" name="Image 17" descr="preencoded.png">    </p:cNvPr>
          <p:cNvPicPr>
            <a:picLocks noChangeAspect="1"/>
          </p:cNvPicPr>
          <p:nvPr/>
        </p:nvPicPr>
        <p:blipFill>
          <a:blip r:embed="rId18"/>
          <a:srcRect l="-2571" r="-2571" t="0" b="0"/>
          <a:stretch/>
        </p:blipFill>
        <p:spPr>
          <a:xfrm>
            <a:off x="8375904" y="4710074"/>
            <a:ext cx="105156" cy="114300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8594446" y="4671670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regularization parameters prevent overfitting in complex models.</a:t>
            </a:r>
            <a:endParaRPr lang="en-US" sz="1000" dirty="0"/>
          </a:p>
        </p:txBody>
      </p:sp>
      <p:sp>
        <p:nvSpPr>
          <p:cNvPr id="58" name="Shape 38"/>
          <p:cNvSpPr/>
          <p:nvPr/>
        </p:nvSpPr>
        <p:spPr>
          <a:xfrm>
            <a:off x="8375904" y="5796382"/>
            <a:ext cx="3000146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9" name="Shape 39"/>
          <p:cNvSpPr/>
          <p:nvPr/>
        </p:nvSpPr>
        <p:spPr>
          <a:xfrm>
            <a:off x="8375904" y="5995721"/>
            <a:ext cx="1114654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0"/>
          <p:cNvSpPr txBox="1"/>
          <p:nvPr/>
        </p:nvSpPr>
        <p:spPr>
          <a:xfrm>
            <a:off x="8375904" y="5995721"/>
            <a:ext cx="11722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 Boosting</a:t>
            </a:r>
            <a:endParaRPr lang="en-US" sz="800" dirty="0"/>
          </a:p>
        </p:txBody>
      </p:sp>
      <p:sp>
        <p:nvSpPr>
          <p:cNvPr id="61" name="Shape 41"/>
          <p:cNvSpPr/>
          <p:nvPr/>
        </p:nvSpPr>
        <p:spPr>
          <a:xfrm>
            <a:off x="9558223" y="599572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2"/>
          <p:cNvSpPr txBox="1"/>
          <p:nvPr/>
        </p:nvSpPr>
        <p:spPr>
          <a:xfrm>
            <a:off x="9558223" y="5995721"/>
            <a:ext cx="9628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Accuracy</a:t>
            </a:r>
            <a:endParaRPr lang="en-US" sz="800" dirty="0"/>
          </a:p>
        </p:txBody>
      </p:sp>
      <p:sp>
        <p:nvSpPr>
          <p:cNvPr id="63" name="Shape 43"/>
          <p:cNvSpPr/>
          <p:nvPr/>
        </p:nvSpPr>
        <p:spPr>
          <a:xfrm>
            <a:off x="10538460" y="5995721"/>
            <a:ext cx="609905" cy="237744"/>
          </a:xfrm>
          <a:prstGeom prst="roundRect">
            <a:avLst>
              <a:gd name="adj" fmla="val 12307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4"/>
          <p:cNvSpPr txBox="1"/>
          <p:nvPr/>
        </p:nvSpPr>
        <p:spPr>
          <a:xfrm>
            <a:off x="10538460" y="5995721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</a:t>
            </a:r>
            <a:endParaRPr lang="en-US" sz="800" dirty="0"/>
          </a:p>
        </p:txBody>
      </p:sp>
      <p:sp>
        <p:nvSpPr>
          <p:cNvPr id="65" name="Shape 45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6" name="Text 46"/>
          <p:cNvSpPr txBox="1"/>
          <p:nvPr/>
        </p:nvSpPr>
        <p:spPr>
          <a:xfrm>
            <a:off x="571500" y="232258"/>
            <a:ext cx="43534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 Used</a:t>
            </a:r>
            <a:endParaRPr lang="en-US" sz="2700" dirty="0"/>
          </a:p>
        </p:txBody>
      </p:sp>
      <p:sp>
        <p:nvSpPr>
          <p:cNvPr id="67" name="Text 47"/>
          <p:cNvSpPr txBox="1"/>
          <p:nvPr/>
        </p:nvSpPr>
        <p:spPr>
          <a:xfrm>
            <a:off x="571500" y="682142"/>
            <a:ext cx="484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Comparative analysis of machine learning algorithms</a:t>
            </a:r>
            <a:endParaRPr lang="en-US" sz="1200" dirty="0"/>
          </a:p>
        </p:txBody>
      </p:sp>
      <p:pic>
        <p:nvPicPr>
          <p:cNvPr id="68" name="Image 18" descr="preencoded.png">    </p:cNvPr>
          <p:cNvPicPr>
            <a:picLocks noChangeAspect="1"/>
          </p:cNvPicPr>
          <p:nvPr/>
        </p:nvPicPr>
        <p:blipFill>
          <a:blip r:embed="rId19"/>
          <a:srcRect l="-365" r="-365" t="0" b="0"/>
          <a:stretch/>
        </p:blipFill>
        <p:spPr>
          <a:xfrm>
            <a:off x="11020349" y="333756"/>
            <a:ext cx="599846" cy="476402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5429707"/>
            <a:ext cx="1904695" cy="190469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1500" y="2991002"/>
            <a:ext cx="4848149" cy="358170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81151" y="3228746"/>
            <a:ext cx="43150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" y="3271723"/>
            <a:ext cx="171907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8430" y="3676802"/>
            <a:ext cx="3629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Predicted Class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435401" y="3972154"/>
            <a:ext cx="178308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631290" y="4533595"/>
            <a:ext cx="178308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435401" y="4533595"/>
            <a:ext cx="178308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Positive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435401" y="5095951"/>
            <a:ext cx="17830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02198" y="2991002"/>
            <a:ext cx="5924398" cy="358170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159398" y="3228746"/>
            <a:ext cx="5343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ROC Curve Analysis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5939942" y="3271723"/>
            <a:ext cx="219456" cy="171907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71500" y="1429207"/>
            <a:ext cx="2076602" cy="1333195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91486" y="1543507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75334" y="1765706"/>
            <a:ext cx="11521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89.2%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1223467" y="2224735"/>
            <a:ext cx="8485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834640" y="1429207"/>
            <a:ext cx="2057400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45482" y="1533449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341218" y="1765706"/>
            <a:ext cx="114757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87.5%</a:t>
            </a:r>
            <a:endParaRPr lang="en-US" sz="2700" dirty="0"/>
          </a:p>
        </p:txBody>
      </p:sp>
      <p:sp>
        <p:nvSpPr>
          <p:cNvPr id="24" name="Text 18"/>
          <p:cNvSpPr txBox="1"/>
          <p:nvPr/>
        </p:nvSpPr>
        <p:spPr>
          <a:xfrm>
            <a:off x="3473806" y="2224735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78578" y="1429207"/>
            <a:ext cx="2057400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89420" y="1533449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08015" y="1765706"/>
            <a:ext cx="11430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91.0%</a:t>
            </a:r>
            <a:endParaRPr lang="en-US" sz="2700" dirty="0"/>
          </a:p>
        </p:txBody>
      </p:sp>
      <p:sp>
        <p:nvSpPr>
          <p:cNvPr id="28" name="Text 21"/>
          <p:cNvSpPr txBox="1"/>
          <p:nvPr/>
        </p:nvSpPr>
        <p:spPr>
          <a:xfrm>
            <a:off x="5838444" y="2224735"/>
            <a:ext cx="619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Recall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322515" y="1429207"/>
            <a:ext cx="2057400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85809" y="1533449"/>
            <a:ext cx="237744" cy="1901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817206" y="1765706"/>
            <a:ext cx="115214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89.2%</a:t>
            </a:r>
            <a:endParaRPr lang="en-US" sz="2700" dirty="0"/>
          </a:p>
        </p:txBody>
      </p:sp>
      <p:sp>
        <p:nvSpPr>
          <p:cNvPr id="32" name="Text 24"/>
          <p:cNvSpPr txBox="1"/>
          <p:nvPr/>
        </p:nvSpPr>
        <p:spPr>
          <a:xfrm>
            <a:off x="8009230" y="2224735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9566453" y="1429207"/>
            <a:ext cx="2057400" cy="1333195"/>
          </a:xfrm>
          <a:prstGeom prst="roundRect">
            <a:avLst>
              <a:gd name="adj" fmla="val 1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277295" y="1533449"/>
            <a:ext cx="190195" cy="1901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0198303" y="1765706"/>
            <a:ext cx="9144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2700" dirty="0"/>
          </a:p>
        </p:txBody>
      </p:sp>
      <p:sp>
        <p:nvSpPr>
          <p:cNvPr id="36" name="Text 27"/>
          <p:cNvSpPr txBox="1"/>
          <p:nvPr/>
        </p:nvSpPr>
        <p:spPr>
          <a:xfrm>
            <a:off x="10265054" y="2224735"/>
            <a:ext cx="734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5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ROC-AUC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 rot="10800000">
            <a:off x="780898" y="3972154"/>
            <a:ext cx="81930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Actual Class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809244" y="5095951"/>
            <a:ext cx="761695" cy="571500"/>
          </a:xfrm>
          <a:prstGeom prst="roundRect">
            <a:avLst>
              <a:gd name="adj" fmla="val 42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993953" y="5105095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400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833018" y="5486400"/>
            <a:ext cx="8503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True Positive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1666037" y="5095951"/>
            <a:ext cx="1714500" cy="571500"/>
          </a:xfrm>
          <a:prstGeom prst="roundRect">
            <a:avLst>
              <a:gd name="adj" fmla="val 42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2389327" y="5105095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2120494" y="5486400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Negative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09244" y="5762549"/>
            <a:ext cx="761695" cy="571500"/>
          </a:xfrm>
          <a:prstGeom prst="roundRect">
            <a:avLst>
              <a:gd name="adj" fmla="val 4266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1059790" y="577260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819302" y="6152998"/>
            <a:ext cx="88422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1666037" y="5762549"/>
            <a:ext cx="1714500" cy="571500"/>
          </a:xfrm>
          <a:prstGeom prst="roundRect">
            <a:avLst>
              <a:gd name="adj" fmla="val 42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2324405" y="5772607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492</a:t>
            </a:r>
            <a:endParaRPr lang="en-US" sz="1800" dirty="0"/>
          </a:p>
        </p:txBody>
      </p:sp>
      <p:sp>
        <p:nvSpPr>
          <p:cNvPr id="49" name="Text 40"/>
          <p:cNvSpPr txBox="1"/>
          <p:nvPr/>
        </p:nvSpPr>
        <p:spPr>
          <a:xfrm>
            <a:off x="2134210" y="6152998"/>
            <a:ext cx="9189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True Negative</a:t>
            </a:r>
            <a:endParaRPr lang="en-US" sz="9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rcRect l="-89" r="-89" t="0" b="0"/>
          <a:stretch/>
        </p:blipFill>
        <p:spPr>
          <a:xfrm>
            <a:off x="5939942" y="3676802"/>
            <a:ext cx="5447995" cy="2657246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52" name="Text 42"/>
          <p:cNvSpPr txBox="1"/>
          <p:nvPr/>
        </p:nvSpPr>
        <p:spPr>
          <a:xfrm>
            <a:off x="571500" y="232258"/>
            <a:ext cx="46552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Performance</a:t>
            </a:r>
            <a:endParaRPr lang="en-US" sz="2700" dirty="0"/>
          </a:p>
        </p:txBody>
      </p:sp>
      <p:sp>
        <p:nvSpPr>
          <p:cNvPr id="53" name="Text 43"/>
          <p:cNvSpPr txBox="1"/>
          <p:nvPr/>
        </p:nvSpPr>
        <p:spPr>
          <a:xfrm>
            <a:off x="571500" y="682142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evaluation metrics and validation outcomes</a:t>
            </a:r>
            <a:endParaRPr lang="en-US" sz="1200" dirty="0"/>
          </a:p>
        </p:txBody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68" b="-268"/>
          <a:stretch/>
        </p:blipFill>
        <p:spPr>
          <a:xfrm>
            <a:off x="11087100" y="333756"/>
            <a:ext cx="533095" cy="476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03504"/>
            <a:ext cx="12191695" cy="6334049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571500" y="889711"/>
            <a:ext cx="11048695" cy="57579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" y="898855"/>
            <a:ext cx="761695" cy="5743346"/>
          </a:xfrm>
          <a:prstGeom prst="roundRect">
            <a:avLst>
              <a:gd name="adj" fmla="val 36014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1754" y="1089965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6851" y="1185062"/>
            <a:ext cx="190195" cy="19019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3077" y="1851660"/>
            <a:ext cx="237744" cy="19019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6851" y="2518258"/>
            <a:ext cx="190195" cy="19019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6851" y="3184855"/>
            <a:ext cx="190195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1533449" y="1089965"/>
            <a:ext cx="2333549" cy="1067105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1733702" y="1241755"/>
            <a:ext cx="20116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Cohort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733702" y="1461211"/>
            <a:ext cx="2011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1,248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1837030" y="1842516"/>
            <a:ext cx="19083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12% vs last month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4052621" y="1089965"/>
            <a:ext cx="2333549" cy="1067105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4252874" y="1241755"/>
            <a:ext cx="20116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 Identified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4252874" y="1461211"/>
            <a:ext cx="2011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142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4384548" y="1842516"/>
            <a:ext cx="1880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11.3% of total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6572707" y="1089965"/>
            <a:ext cx="2333549" cy="1067105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772046" y="1241755"/>
            <a:ext cx="20116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Risk Score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6772046" y="1461211"/>
            <a:ext cx="2011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42.5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894576" y="1842516"/>
            <a:ext cx="18891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Stable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9091879" y="1089965"/>
            <a:ext cx="2333549" cy="1067105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291218" y="1241755"/>
            <a:ext cx="20116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8" kern="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Actionable Alerts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291218" y="1461211"/>
            <a:ext cx="2011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1533449" y="2342693"/>
            <a:ext cx="2476195" cy="2667305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1686154" y="2771546"/>
            <a:ext cx="21717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1686154" y="2494483"/>
            <a:ext cx="12957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#492 Risk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3719779" y="2518258"/>
            <a:ext cx="133502" cy="15270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196182" y="2342693"/>
            <a:ext cx="4076395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347972" y="2771546"/>
            <a:ext cx="37719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347972" y="2494483"/>
            <a:ext cx="23975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 Risk Trend (6 Months)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318858" y="2499055"/>
            <a:ext cx="590702" cy="190195"/>
          </a:xfrm>
          <a:prstGeom prst="roundRect">
            <a:avLst>
              <a:gd name="adj" fmla="val 1923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7318858" y="2499055"/>
            <a:ext cx="6675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Diabetic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7981798" y="2499055"/>
            <a:ext cx="210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454542" y="2342693"/>
            <a:ext cx="2971800" cy="266730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8607247" y="2771546"/>
            <a:ext cx="26673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607247" y="2494483"/>
            <a:ext cx="11814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Risk Drivers</a:t>
            </a:r>
            <a:endParaRPr lang="en-US" sz="10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153851" y="2537460"/>
            <a:ext cx="114300" cy="11430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1533449" y="5200193"/>
            <a:ext cx="9887407" cy="1248156"/>
          </a:xfrm>
          <a:prstGeom prst="roundRect">
            <a:avLst>
              <a:gd name="adj" fmla="val 11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1686154" y="5629046"/>
            <a:ext cx="9581998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1686154" y="5351983"/>
            <a:ext cx="26609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Recent Alerts &amp; Recommendations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10815523" y="5375758"/>
            <a:ext cx="5440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All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1686154" y="5685739"/>
            <a:ext cx="4724705" cy="533095"/>
          </a:xfrm>
          <a:prstGeom prst="roundRect">
            <a:avLst>
              <a:gd name="adj" fmla="val 36756"/>
            </a:avLst>
          </a:prstGeom>
          <a:solidFill>
            <a:srgbClr val="FFF1F2"/>
          </a:solidFill>
          <a:ln/>
        </p:spPr>
      </p:sp>
      <p:sp>
        <p:nvSpPr>
          <p:cNvPr id="47" name="Shape 38"/>
          <p:cNvSpPr/>
          <p:nvPr/>
        </p:nvSpPr>
        <p:spPr>
          <a:xfrm>
            <a:off x="1686154" y="5685739"/>
            <a:ext cx="38405" cy="533095"/>
          </a:xfrm>
          <a:prstGeom prst="roundRect">
            <a:avLst>
              <a:gd name="adj" fmla="val 510201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2085746" y="5780837"/>
            <a:ext cx="22786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#492: BP Spike Detected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2085746" y="5966460"/>
            <a:ext cx="20884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Systolic &gt; 160mmHg | 10 mins ago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5818327" y="5828386"/>
            <a:ext cx="495605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548018" y="5685739"/>
            <a:ext cx="4724705" cy="533095"/>
          </a:xfrm>
          <a:prstGeom prst="roundRect">
            <a:avLst>
              <a:gd name="adj" fmla="val 36756"/>
            </a:avLst>
          </a:prstGeom>
          <a:solidFill>
            <a:srgbClr val="FFFBEB"/>
          </a:solidFill>
          <a:ln/>
        </p:spPr>
      </p:sp>
      <p:sp>
        <p:nvSpPr>
          <p:cNvPr id="52" name="Shape 43"/>
          <p:cNvSpPr/>
          <p:nvPr/>
        </p:nvSpPr>
        <p:spPr>
          <a:xfrm>
            <a:off x="6548018" y="5685739"/>
            <a:ext cx="38405" cy="533095"/>
          </a:xfrm>
          <a:prstGeom prst="roundRect">
            <a:avLst>
              <a:gd name="adj" fmla="val 51020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967728" y="5780837"/>
            <a:ext cx="20857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#881: Adherence Risk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6967728" y="5966460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Refill overdue by 5 days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10628071" y="5828386"/>
            <a:ext cx="552298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958" b="-1958"/>
          <a:stretch/>
        </p:blipFill>
        <p:spPr>
          <a:xfrm>
            <a:off x="1733702" y="1864462"/>
            <a:ext cx="75895" cy="105156"/>
          </a:xfrm>
          <a:prstGeom prst="rect">
            <a:avLst/>
          </a:prstGeom>
        </p:spPr>
      </p:pic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52874" y="1864462"/>
            <a:ext cx="105156" cy="105156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0"/>
          <a:srcRect l="-1677" r="-1677" t="0" b="0"/>
          <a:stretch/>
        </p:blipFill>
        <p:spPr>
          <a:xfrm>
            <a:off x="6772046" y="1864462"/>
            <a:ext cx="95098" cy="105156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9291218" y="1842516"/>
            <a:ext cx="96377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Requires review</a:t>
            </a:r>
            <a:endParaRPr lang="en-US" sz="800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819656" y="5875934"/>
            <a:ext cx="152705" cy="15270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5866790" y="5866790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Notify</a:t>
            </a:r>
            <a:endParaRPr lang="en-US" sz="90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rcRect l="-33" r="-33" t="0" b="0"/>
          <a:stretch/>
        </p:blipFill>
        <p:spPr>
          <a:xfrm>
            <a:off x="6681521" y="5875934"/>
            <a:ext cx="171907" cy="15270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10675620" y="5866790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</a:t>
            </a:r>
            <a:endParaRPr lang="en-US" sz="900" dirty="0"/>
          </a:p>
        </p:txBody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rcRect l="-227" r="-227" t="0" b="0"/>
          <a:stretch/>
        </p:blipFill>
        <p:spPr>
          <a:xfrm>
            <a:off x="1686154" y="2875788"/>
            <a:ext cx="2171700" cy="236189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2527402" y="4175150"/>
            <a:ext cx="4864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87</a:t>
            </a:r>
            <a:endParaRPr lang="en-US" sz="2100" dirty="0"/>
          </a:p>
        </p:txBody>
      </p:sp>
      <p:sp>
        <p:nvSpPr>
          <p:cNvPr id="66" name="Text 51"/>
          <p:cNvSpPr txBox="1"/>
          <p:nvPr/>
        </p:nvSpPr>
        <p:spPr>
          <a:xfrm>
            <a:off x="2526487" y="4574743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</a:t>
            </a:r>
            <a:endParaRPr lang="en-US" sz="800" dirty="0"/>
          </a:p>
        </p:txBody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rcRect l="-119" r="-119" t="0" b="0"/>
          <a:stretch/>
        </p:blipFill>
        <p:spPr>
          <a:xfrm>
            <a:off x="4347972" y="2875788"/>
            <a:ext cx="3771900" cy="1981505"/>
          </a:xfrm>
          <a:prstGeom prst="rect">
            <a:avLst/>
          </a:prstGeom>
        </p:spPr>
      </p:pic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rcRect l="-177" r="-177" t="0" b="0"/>
          <a:stretch/>
        </p:blipFill>
        <p:spPr>
          <a:xfrm>
            <a:off x="8607247" y="2875788"/>
            <a:ext cx="2667305" cy="1981505"/>
          </a:xfrm>
          <a:prstGeom prst="rect">
            <a:avLst/>
          </a:prstGeom>
        </p:spPr>
      </p:pic>
      <p:sp>
        <p:nvSpPr>
          <p:cNvPr id="69" name="Shape 52"/>
          <p:cNvSpPr/>
          <p:nvPr/>
        </p:nvSpPr>
        <p:spPr>
          <a:xfrm>
            <a:off x="0" y="0"/>
            <a:ext cx="12191695" cy="6099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70" name="Text 53"/>
          <p:cNvSpPr txBox="1"/>
          <p:nvPr/>
        </p:nvSpPr>
        <p:spPr>
          <a:xfrm>
            <a:off x="571500" y="0"/>
            <a:ext cx="42775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Analytics Dashboard</a:t>
            </a:r>
            <a:endParaRPr lang="en-US" sz="2400" dirty="0"/>
          </a:p>
        </p:txBody>
      </p:sp>
      <p:sp>
        <p:nvSpPr>
          <p:cNvPr id="71" name="Text 54"/>
          <p:cNvSpPr txBox="1"/>
          <p:nvPr/>
        </p:nvSpPr>
        <p:spPr>
          <a:xfrm>
            <a:off x="571500" y="404165"/>
            <a:ext cx="48490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Interface: Patient Risk Scores &amp; Predictive Insights</a:t>
            </a:r>
            <a:endParaRPr lang="en-US" sz="1000" dirty="0"/>
          </a:p>
        </p:txBody>
      </p:sp>
      <p:pic>
        <p:nvPicPr>
          <p:cNvPr id="7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3" b="-13"/>
          <a:stretch/>
        </p:blipFill>
        <p:spPr>
          <a:xfrm>
            <a:off x="11192256" y="111557"/>
            <a:ext cx="428854" cy="381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1500" y="918058"/>
            <a:ext cx="6762902" cy="3172054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1754" y="1518818"/>
            <a:ext cx="6362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76249" y="1118311"/>
            <a:ext cx="61347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Clinical Plausibility &amp; Feature Effects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250" b="-6250"/>
          <a:stretch/>
        </p:blipFill>
        <p:spPr>
          <a:xfrm>
            <a:off x="771754" y="1118311"/>
            <a:ext cx="304495" cy="3044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1754" y="1670609"/>
            <a:ext cx="6477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of how top predictors influence the risk score compared to clinical baselines.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47649" y="2172614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BMI &gt; 30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133295" y="2151583"/>
            <a:ext cx="3066898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133295" y="2151583"/>
            <a:ext cx="2609698" cy="22860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33295" y="2151583"/>
            <a:ext cx="26865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+2.5x Risk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343754" y="2061058"/>
            <a:ext cx="17830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predictor; consistent with metabolic syndrome pathology.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847649" y="2847442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Activity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133295" y="2826410"/>
            <a:ext cx="3066898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133295" y="2826410"/>
            <a:ext cx="1380744" cy="2286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133295" y="2826410"/>
            <a:ext cx="14383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-40% Risk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5343754" y="2736799"/>
            <a:ext cx="17830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Protective factor; moderate exercise &gt;150min/week significantly lowers risk.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847649" y="3454603"/>
            <a:ext cx="1219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Family History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133295" y="3433572"/>
            <a:ext cx="3066898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133295" y="3433572"/>
            <a:ext cx="1695298" cy="228600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133295" y="3433572"/>
            <a:ext cx="176387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+1.8x Risk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5343754" y="3411626"/>
            <a:ext cx="178308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Genetic predisposition adds baseline risk regardless of lifestyle.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563002" y="918058"/>
            <a:ext cx="4058107" cy="3172054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763256" y="1518818"/>
            <a:ext cx="36576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067751" y="1118311"/>
            <a:ext cx="342991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Operational Thresholds</a:t>
            </a:r>
            <a:endParaRPr lang="en-US" sz="12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3256" y="1118311"/>
            <a:ext cx="304495" cy="30449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763256" y="1670609"/>
            <a:ext cx="43214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boundary adjusted to favor Recall (minimize missed cases).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763256" y="2179930"/>
            <a:ext cx="4882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 (0.0)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10798150" y="2179930"/>
            <a:ext cx="74889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 (1.0)</a:t>
            </a:r>
            <a:endParaRPr lang="en-US" sz="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201" r="-201" t="0" b="0"/>
          <a:stretch/>
        </p:blipFill>
        <p:spPr>
          <a:xfrm>
            <a:off x="7763256" y="2618842"/>
            <a:ext cx="3657600" cy="75895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49486" y="2451506"/>
            <a:ext cx="152705" cy="152705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054389" y="2651760"/>
            <a:ext cx="352044" cy="209398"/>
          </a:xfrm>
          <a:prstGeom prst="roundRect">
            <a:avLst>
              <a:gd name="adj" fmla="val 158793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054389" y="2651760"/>
            <a:ext cx="4288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0.40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7763256" y="3085186"/>
            <a:ext cx="3657600" cy="562356"/>
          </a:xfrm>
          <a:prstGeom prst="roundRect">
            <a:avLst>
              <a:gd name="adj" fmla="val 44095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819949" y="3180283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98%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7808062" y="3408883"/>
            <a:ext cx="62362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Sensitivity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940089" y="3180283"/>
            <a:ext cx="961949" cy="371246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005926" y="3180283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12%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8976665" y="3408883"/>
            <a:ext cx="88788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Pos. Rate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10415930" y="3180283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10388498" y="3408883"/>
            <a:ext cx="1006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Screening Utility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571500" y="4318711"/>
            <a:ext cx="6762902" cy="2648102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771754" y="4919472"/>
            <a:ext cx="63623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76249" y="4518965"/>
            <a:ext cx="61347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Fairness &amp; Subgroup Performance</a:t>
            </a:r>
            <a:endParaRPr lang="en-US" sz="12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2500" b="-12500"/>
          <a:stretch/>
        </p:blipFill>
        <p:spPr>
          <a:xfrm>
            <a:off x="771754" y="4518965"/>
            <a:ext cx="304495" cy="304495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78" b="-278"/>
          <a:stretch/>
        </p:blipFill>
        <p:spPr>
          <a:xfrm>
            <a:off x="771754" y="5071262"/>
            <a:ext cx="3086100" cy="1695298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4048049" y="5190134"/>
            <a:ext cx="761695" cy="237744"/>
          </a:xfrm>
          <a:prstGeom prst="roundRect">
            <a:avLst>
              <a:gd name="adj" fmla="val 12307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4019702" y="5190134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60+</a:t>
            </a:r>
            <a:endParaRPr lang="en-US" sz="800" dirty="0"/>
          </a:p>
        </p:txBody>
      </p:sp>
      <p:sp>
        <p:nvSpPr>
          <p:cNvPr id="52" name="Text 43"/>
          <p:cNvSpPr txBox="1"/>
          <p:nvPr/>
        </p:nvSpPr>
        <p:spPr>
          <a:xfrm>
            <a:off x="4905756" y="5135270"/>
            <a:ext cx="2305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accuracy (92%) due to distinct symptom presentation.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4048049" y="5714086"/>
            <a:ext cx="761695" cy="237744"/>
          </a:xfrm>
          <a:prstGeom prst="roundRect">
            <a:avLst>
              <a:gd name="adj" fmla="val 12307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019702" y="5714086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4905756" y="5573268"/>
            <a:ext cx="23052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Slightly lower recall (88%) compared to males; warrants specific feature engineering.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4048049" y="6323990"/>
            <a:ext cx="761695" cy="237744"/>
          </a:xfrm>
          <a:prstGeom prst="roundRect">
            <a:avLst>
              <a:gd name="adj" fmla="val 12307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4019702" y="6323990"/>
            <a:ext cx="8193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58" name="Text 49"/>
          <p:cNvSpPr txBox="1"/>
          <p:nvPr/>
        </p:nvSpPr>
        <p:spPr>
          <a:xfrm>
            <a:off x="4905756" y="6183173"/>
            <a:ext cx="23052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is robust across major demographics with no significant bias &gt;5%.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7563002" y="4318711"/>
            <a:ext cx="4058107" cy="2648102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7763256" y="4919472"/>
            <a:ext cx="36576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8067751" y="4518965"/>
            <a:ext cx="342991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Limitations &amp; Confounders</a:t>
            </a:r>
            <a:endParaRPr lang="en-US" sz="120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63256" y="4518965"/>
            <a:ext cx="304495" cy="304495"/>
          </a:xfrm>
          <a:prstGeom prst="rect">
            <a:avLst/>
          </a:prstGeom>
        </p:spPr>
      </p:pic>
      <p:sp>
        <p:nvSpPr>
          <p:cNvPr id="63" name="Shape 53"/>
          <p:cNvSpPr/>
          <p:nvPr/>
        </p:nvSpPr>
        <p:spPr>
          <a:xfrm>
            <a:off x="7763256" y="5071262"/>
            <a:ext cx="3657600" cy="523951"/>
          </a:xfrm>
          <a:prstGeom prst="roundRect">
            <a:avLst>
              <a:gd name="adj" fmla="val 38077"/>
            </a:avLst>
          </a:prstGeom>
          <a:solidFill>
            <a:srgbClr val="FFF1F2"/>
          </a:solidFill>
          <a:ln/>
        </p:spPr>
      </p:sp>
      <p:sp>
        <p:nvSpPr>
          <p:cNvPr id="64" name="Shape 54"/>
          <p:cNvSpPr/>
          <p:nvPr/>
        </p:nvSpPr>
        <p:spPr>
          <a:xfrm>
            <a:off x="7763256" y="5071262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67498" y="5166360"/>
            <a:ext cx="133502" cy="133502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8115300" y="5166360"/>
            <a:ext cx="289316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13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Self-Reported Data Bias</a:t>
            </a:r>
            <a:endParaRPr lang="en-US" sz="900" dirty="0"/>
          </a:p>
        </p:txBody>
      </p:sp>
      <p:sp>
        <p:nvSpPr>
          <p:cNvPr id="67" name="Shape 56"/>
          <p:cNvSpPr/>
          <p:nvPr/>
        </p:nvSpPr>
        <p:spPr>
          <a:xfrm>
            <a:off x="7763256" y="5704942"/>
            <a:ext cx="3657600" cy="523951"/>
          </a:xfrm>
          <a:prstGeom prst="roundRect">
            <a:avLst>
              <a:gd name="adj" fmla="val 38077"/>
            </a:avLst>
          </a:prstGeom>
          <a:solidFill>
            <a:srgbClr val="FFF7ED"/>
          </a:solidFill>
          <a:ln/>
        </p:spPr>
      </p:sp>
      <p:sp>
        <p:nvSpPr>
          <p:cNvPr id="68" name="Shape 57"/>
          <p:cNvSpPr/>
          <p:nvPr/>
        </p:nvSpPr>
        <p:spPr>
          <a:xfrm>
            <a:off x="7763256" y="5704942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867498" y="5800039"/>
            <a:ext cx="133502" cy="133502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8115300" y="5800039"/>
            <a:ext cx="29718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Temporal gaps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0" y="0"/>
            <a:ext cx="12191695" cy="638251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72" name="Text 60"/>
          <p:cNvSpPr txBox="1"/>
          <p:nvPr/>
        </p:nvSpPr>
        <p:spPr>
          <a:xfrm>
            <a:off x="571500" y="0"/>
            <a:ext cx="58585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 &amp; Clinical Insights</a:t>
            </a:r>
            <a:endParaRPr lang="en-US" sz="2400" dirty="0"/>
          </a:p>
        </p:txBody>
      </p:sp>
      <p:sp>
        <p:nvSpPr>
          <p:cNvPr id="73" name="Text 61"/>
          <p:cNvSpPr txBox="1"/>
          <p:nvPr/>
        </p:nvSpPr>
        <p:spPr>
          <a:xfrm>
            <a:off x="571500" y="404165"/>
            <a:ext cx="5287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Translating Model Outputs into Medical Action</a:t>
            </a:r>
            <a:endParaRPr lang="en-US" sz="1200" dirty="0"/>
          </a:p>
        </p:txBody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539" b="-539"/>
          <a:stretch/>
        </p:blipFill>
        <p:spPr>
          <a:xfrm>
            <a:off x="11248949" y="101498"/>
            <a:ext cx="371246" cy="4288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rcRect l="0" r="0" t="0" b="0"/>
          <a:stretch/>
        </p:blipFill>
        <p:spPr>
          <a:xfrm>
            <a:off x="9810598" y="44769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476902" y="1058875"/>
            <a:ext cx="7144207" cy="2962656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72254" y="1707185"/>
            <a:ext cx="6553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44161" y="1306678"/>
            <a:ext cx="291327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Clinical Integration Pathway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2254" y="1349654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931298" y="1321308"/>
            <a:ext cx="1399946" cy="228600"/>
          </a:xfrm>
          <a:prstGeom prst="roundRect">
            <a:avLst>
              <a:gd name="adj" fmla="val 4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902952" y="1321308"/>
            <a:ext cx="14575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Strategy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76902" y="4253789"/>
            <a:ext cx="7144207" cy="2962656"/>
          </a:xfrm>
          <a:prstGeom prst="roundRect">
            <a:avLst>
              <a:gd name="adj" fmla="val 31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72254" y="4902098"/>
            <a:ext cx="65535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944161" y="4501591"/>
            <a:ext cx="2915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Constraints &amp; Considerations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2254" y="4544568"/>
            <a:ext cx="171907" cy="17190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498226" y="4515307"/>
            <a:ext cx="828446" cy="228600"/>
          </a:xfrm>
          <a:prstGeom prst="roundRect">
            <a:avLst>
              <a:gd name="adj" fmla="val 400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469880" y="4515307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72254" y="5101438"/>
            <a:ext cx="3181198" cy="875995"/>
          </a:xfrm>
          <a:prstGeom prst="roundRect">
            <a:avLst>
              <a:gd name="adj" fmla="val 1815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4924044" y="5282489"/>
            <a:ext cx="114300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52644" y="5254142"/>
            <a:ext cx="27541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5152644" y="5501945"/>
            <a:ext cx="27249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Reliance on self-reported lifestyle data may introduce reporting bias and inconsistencies.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8143646" y="5101438"/>
            <a:ext cx="3181198" cy="875995"/>
          </a:xfrm>
          <a:prstGeom prst="roundRect">
            <a:avLst>
              <a:gd name="adj" fmla="val 1815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8296351" y="5282489"/>
            <a:ext cx="19019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600846" y="5254142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 Bias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600846" y="5501945"/>
            <a:ext cx="2648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data may underrepresent certain minority groups, affecting generalizability.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5" b="-5"/>
          <a:stretch/>
        </p:blipFill>
        <p:spPr>
          <a:xfrm>
            <a:off x="571500" y="1058875"/>
            <a:ext cx="3619195" cy="6151169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152644" y="2231136"/>
            <a:ext cx="57908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114654" y="1345082"/>
            <a:ext cx="2905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Findings</a:t>
            </a:r>
            <a:endParaRPr lang="en-US" sz="18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5" b="-45"/>
          <a:stretch/>
        </p:blipFill>
        <p:spPr>
          <a:xfrm>
            <a:off x="857707" y="1401775"/>
            <a:ext cx="256946" cy="2286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57707" y="1925726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952805" y="2011680"/>
            <a:ext cx="114300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04849" y="2208276"/>
            <a:ext cx="26773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Transition from reactive treatment to preventative management using lifestyle data markers.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857707" y="3131820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42746" y="3217774"/>
            <a:ext cx="133502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04849" y="3413455"/>
            <a:ext cx="26773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achieved 89.2% accuracy, proving ML viability for early risk stratification.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857707" y="4337914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952805" y="4422953"/>
            <a:ext cx="114300" cy="133502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304849" y="4619549"/>
            <a:ext cx="26773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importance analysis provides clinicians with "why" behind the risk scores.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857707" y="5543093"/>
            <a:ext cx="3047695" cy="1380744"/>
          </a:xfrm>
          <a:prstGeom prst="roundRect">
            <a:avLst>
              <a:gd name="adj" fmla="val 1096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28"/>
          <p:cNvSpPr/>
          <p:nvPr/>
        </p:nvSpPr>
        <p:spPr>
          <a:xfrm>
            <a:off x="857707" y="5543093"/>
            <a:ext cx="38405" cy="1380744"/>
          </a:xfrm>
          <a:prstGeom prst="roundRect">
            <a:avLst>
              <a:gd name="adj" fmla="val 394087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1086307" y="5734202"/>
            <a:ext cx="270571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integration of wearable data with predictive modeling creates a 360-degree view of patient health, enabling timely interventions before chronic conditions escalate."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1304849" y="1935785"/>
            <a:ext cx="244510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Care Enablement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1304849" y="3140964"/>
            <a:ext cx="22448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Predictive Accuracy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1304849" y="4347058"/>
            <a:ext cx="1984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Interpretable Insights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5115154" y="200253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5257800" y="2135124"/>
            <a:ext cx="171907" cy="1901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989881" y="2554834"/>
            <a:ext cx="715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Sync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4743907" y="2778862"/>
            <a:ext cx="1200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EHR &amp; Wearable API Aggregation</a:t>
            </a:r>
            <a:endParaRPr lang="en-US" sz="800" dirty="0"/>
          </a:p>
        </p:txBody>
      </p:sp>
      <p:sp>
        <p:nvSpPr>
          <p:cNvPr id="49" name="Shape 36"/>
          <p:cNvSpPr/>
          <p:nvPr/>
        </p:nvSpPr>
        <p:spPr>
          <a:xfrm>
            <a:off x="6918350" y="207020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051853" y="2203704"/>
            <a:ext cx="190195" cy="19019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703466" y="2622499"/>
            <a:ext cx="896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6475781" y="2846527"/>
            <a:ext cx="13496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ML Inference</a:t>
            </a:r>
            <a:endParaRPr lang="en-US" sz="800" dirty="0"/>
          </a:p>
        </p:txBody>
      </p:sp>
      <p:sp>
        <p:nvSpPr>
          <p:cNvPr id="53" name="Shape 39"/>
          <p:cNvSpPr/>
          <p:nvPr/>
        </p:nvSpPr>
        <p:spPr>
          <a:xfrm>
            <a:off x="8721547" y="200253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-1648" r="-1648" t="0" b="0"/>
          <a:stretch/>
        </p:blipFill>
        <p:spPr>
          <a:xfrm>
            <a:off x="8864194" y="2135124"/>
            <a:ext cx="171907" cy="190195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8325612" y="2554834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Support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8350301" y="2778862"/>
            <a:ext cx="1200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Clinician Dashboard Alerts</a:t>
            </a:r>
            <a:endParaRPr lang="en-US" sz="800" dirty="0"/>
          </a:p>
        </p:txBody>
      </p:sp>
      <p:sp>
        <p:nvSpPr>
          <p:cNvPr id="57" name="Shape 42"/>
          <p:cNvSpPr/>
          <p:nvPr/>
        </p:nvSpPr>
        <p:spPr>
          <a:xfrm>
            <a:off x="10524744" y="207020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634472" y="2203704"/>
            <a:ext cx="237744" cy="190195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10289743" y="2622499"/>
            <a:ext cx="9299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Intervention</a:t>
            </a:r>
            <a:endParaRPr lang="en-US" sz="900" dirty="0"/>
          </a:p>
        </p:txBody>
      </p:sp>
      <p:sp>
        <p:nvSpPr>
          <p:cNvPr id="60" name="Text 44"/>
          <p:cNvSpPr txBox="1"/>
          <p:nvPr/>
        </p:nvSpPr>
        <p:spPr>
          <a:xfrm>
            <a:off x="10087661" y="2846527"/>
            <a:ext cx="133776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Care Plan</a:t>
            </a:r>
            <a:endParaRPr lang="en-US" sz="800" dirty="0"/>
          </a:p>
        </p:txBody>
      </p:sp>
      <p:sp>
        <p:nvSpPr>
          <p:cNvPr id="61" name="Shape 45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62" name="Text 46"/>
          <p:cNvSpPr txBox="1"/>
          <p:nvPr/>
        </p:nvSpPr>
        <p:spPr>
          <a:xfrm>
            <a:off x="571500" y="0"/>
            <a:ext cx="39346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63" name="Text 47"/>
          <p:cNvSpPr txBox="1"/>
          <p:nvPr/>
        </p:nvSpPr>
        <p:spPr>
          <a:xfrm>
            <a:off x="571500" y="449885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Findings, Integration Pathway &amp; Limitations</a:t>
            </a:r>
            <a:endParaRPr lang="en-US" sz="1200" dirty="0"/>
          </a:p>
        </p:txBody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rcRect l="-672" r="-672" t="0" b="0"/>
          <a:stretch/>
        </p:blipFill>
        <p:spPr>
          <a:xfrm>
            <a:off x="11259007" y="100584"/>
            <a:ext cx="362102" cy="4764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386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1143000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1" b="-401"/>
          <a:stretch/>
        </p:blipFill>
        <p:spPr>
          <a:xfrm>
            <a:off x="571500" y="3981298"/>
            <a:ext cx="11048695" cy="3840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381305" y="1099109"/>
            <a:ext cx="2057400" cy="232989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23798" y="1337767"/>
            <a:ext cx="571500" cy="5715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37667" y="2023567"/>
            <a:ext cx="17437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Wearable Integration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37667" y="2495398"/>
            <a:ext cx="17437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Ingest real-time vitals (HRV, Sleep) from smart devices for continuous risk monitoring.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124712" y="3323844"/>
            <a:ext cx="571500" cy="219456"/>
          </a:xfrm>
          <a:prstGeom prst="roundRect">
            <a:avLst>
              <a:gd name="adj" fmla="val 41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96366" y="3323844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399946" y="3543300"/>
            <a:ext cx="19202" cy="57150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95705" y="3886200"/>
            <a:ext cx="228600" cy="22860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3743554" y="3886200"/>
            <a:ext cx="19202" cy="57150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-5" r="-5" t="0" b="0"/>
          <a:stretch/>
        </p:blipFill>
        <p:spPr>
          <a:xfrm>
            <a:off x="2723998" y="4572000"/>
            <a:ext cx="2057400" cy="2131466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3467405" y="4809744"/>
            <a:ext cx="571500" cy="571500"/>
          </a:xfrm>
          <a:prstGeom prst="ellipse">
            <a:avLst/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rcRect l="-685" r="-685" t="0" b="0"/>
          <a:stretch/>
        </p:blipFill>
        <p:spPr>
          <a:xfrm>
            <a:off x="3600907" y="4962449"/>
            <a:ext cx="304495" cy="26700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2874874" y="5495544"/>
            <a:ext cx="17638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2881274" y="5769864"/>
            <a:ext cx="17437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collaborative models across hospitals without sharing raw patient data to ensure privacy.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3468319" y="4505249"/>
            <a:ext cx="571500" cy="219456"/>
          </a:xfrm>
          <a:prstGeom prst="roundRect">
            <a:avLst>
              <a:gd name="adj" fmla="val 416667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3"/>
          <p:cNvSpPr txBox="1"/>
          <p:nvPr/>
        </p:nvSpPr>
        <p:spPr>
          <a:xfrm>
            <a:off x="3439973" y="4505249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</a:t>
            </a:r>
            <a:endParaRPr lang="en-US" sz="8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638398" y="3886200"/>
            <a:ext cx="228600" cy="22860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3" b="-3"/>
          <a:stretch/>
        </p:blipFill>
        <p:spPr>
          <a:xfrm>
            <a:off x="5067605" y="1099109"/>
            <a:ext cx="2057400" cy="2329891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5810098" y="1337767"/>
            <a:ext cx="571500" cy="5715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995721" y="1489558"/>
            <a:ext cx="200254" cy="26700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223967" y="2023567"/>
            <a:ext cx="17437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Explainability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5223967" y="2495398"/>
            <a:ext cx="17437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SHAP/LIME integration to provide clinicians with "why" behind every prediction.</a:t>
            </a:r>
            <a:endParaRPr lang="en-US" sz="900" dirty="0"/>
          </a:p>
        </p:txBody>
      </p:sp>
      <p:sp>
        <p:nvSpPr>
          <p:cNvPr id="30" name="Shape 17"/>
          <p:cNvSpPr/>
          <p:nvPr/>
        </p:nvSpPr>
        <p:spPr>
          <a:xfrm>
            <a:off x="5811012" y="3323844"/>
            <a:ext cx="571500" cy="219456"/>
          </a:xfrm>
          <a:prstGeom prst="roundRect">
            <a:avLst>
              <a:gd name="adj" fmla="val 416667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8"/>
          <p:cNvSpPr txBox="1"/>
          <p:nvPr/>
        </p:nvSpPr>
        <p:spPr>
          <a:xfrm>
            <a:off x="5782666" y="3323844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</a:t>
            </a:r>
            <a:endParaRPr lang="en-US" sz="8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rcRect l="-400" r="-400" t="0" b="0"/>
          <a:stretch/>
        </p:blipFill>
        <p:spPr>
          <a:xfrm>
            <a:off x="6086246" y="3543300"/>
            <a:ext cx="19202" cy="571500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982005" y="3886200"/>
            <a:ext cx="228600" cy="228600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rcRect l="-400" r="-400" t="0" b="0"/>
          <a:stretch/>
        </p:blipFill>
        <p:spPr>
          <a:xfrm>
            <a:off x="8429854" y="3886200"/>
            <a:ext cx="19202" cy="57150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rcRect l="-5" r="-5" t="0" b="0"/>
          <a:stretch/>
        </p:blipFill>
        <p:spPr>
          <a:xfrm>
            <a:off x="7410298" y="4572000"/>
            <a:ext cx="2057400" cy="2131466"/>
          </a:xfrm>
          <a:prstGeom prst="rect">
            <a:avLst/>
          </a:prstGeom>
        </p:spPr>
      </p:pic>
      <p:sp>
        <p:nvSpPr>
          <p:cNvPr id="36" name="Shape 19"/>
          <p:cNvSpPr/>
          <p:nvPr/>
        </p:nvSpPr>
        <p:spPr>
          <a:xfrm>
            <a:off x="8153705" y="4809744"/>
            <a:ext cx="571500" cy="57150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339328" y="4962449"/>
            <a:ext cx="200254" cy="267005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584948" y="5495544"/>
            <a:ext cx="17117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Validation</a:t>
            </a:r>
            <a:endParaRPr lang="en-US" sz="1200" dirty="0"/>
          </a:p>
        </p:txBody>
      </p:sp>
      <p:sp>
        <p:nvSpPr>
          <p:cNvPr id="39" name="Text 21"/>
          <p:cNvSpPr txBox="1"/>
          <p:nvPr/>
        </p:nvSpPr>
        <p:spPr>
          <a:xfrm>
            <a:off x="7567574" y="5769864"/>
            <a:ext cx="17437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prospective trials in hospital settings to measure real-world impact on patient outcomes.</a:t>
            </a:r>
            <a:endParaRPr lang="en-US" sz="900" dirty="0"/>
          </a:p>
        </p:txBody>
      </p:sp>
      <p:sp>
        <p:nvSpPr>
          <p:cNvPr id="40" name="Shape 22"/>
          <p:cNvSpPr/>
          <p:nvPr/>
        </p:nvSpPr>
        <p:spPr>
          <a:xfrm>
            <a:off x="8154619" y="4505249"/>
            <a:ext cx="571500" cy="219456"/>
          </a:xfrm>
          <a:prstGeom prst="roundRect">
            <a:avLst>
              <a:gd name="adj" fmla="val 416667"/>
            </a:avLst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3"/>
          <p:cNvSpPr txBox="1"/>
          <p:nvPr/>
        </p:nvSpPr>
        <p:spPr>
          <a:xfrm>
            <a:off x="8126273" y="4505249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4</a:t>
            </a:r>
            <a:endParaRPr lang="en-US" sz="80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324698" y="3886200"/>
            <a:ext cx="228600" cy="228600"/>
          </a:xfrm>
          <a:prstGeom prst="rect">
            <a:avLst/>
          </a:prstGeom>
        </p:spPr>
      </p:pic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rcRect l="-5" r="-5" t="0" b="0"/>
          <a:stretch/>
        </p:blipFill>
        <p:spPr>
          <a:xfrm>
            <a:off x="9753905" y="1297534"/>
            <a:ext cx="2057400" cy="2131466"/>
          </a:xfrm>
          <a:prstGeom prst="rect">
            <a:avLst/>
          </a:prstGeom>
        </p:spPr>
      </p:pic>
      <p:sp>
        <p:nvSpPr>
          <p:cNvPr id="44" name="Shape 24"/>
          <p:cNvSpPr/>
          <p:nvPr/>
        </p:nvSpPr>
        <p:spPr>
          <a:xfrm>
            <a:off x="10496398" y="1535278"/>
            <a:ext cx="571500" cy="5715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10649102" y="1687982"/>
            <a:ext cx="267005" cy="267005"/>
          </a:xfrm>
          <a:prstGeom prst="rect">
            <a:avLst/>
          </a:prstGeom>
        </p:spPr>
      </p:pic>
      <p:sp>
        <p:nvSpPr>
          <p:cNvPr id="46" name="Text 25"/>
          <p:cNvSpPr txBox="1"/>
          <p:nvPr/>
        </p:nvSpPr>
        <p:spPr>
          <a:xfrm>
            <a:off x="10000793" y="2221078"/>
            <a:ext cx="15700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Broader Coverage</a:t>
            </a:r>
            <a:endParaRPr lang="en-US" sz="1200" dirty="0"/>
          </a:p>
        </p:txBody>
      </p:sp>
      <p:sp>
        <p:nvSpPr>
          <p:cNvPr id="47" name="Text 26"/>
          <p:cNvSpPr txBox="1"/>
          <p:nvPr/>
        </p:nvSpPr>
        <p:spPr>
          <a:xfrm>
            <a:off x="9910267" y="2495398"/>
            <a:ext cx="1743761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Expand model architecture to predict other chronic conditions like CVD and renal failure.</a:t>
            </a:r>
            <a:endParaRPr lang="en-US" sz="900" dirty="0"/>
          </a:p>
        </p:txBody>
      </p:sp>
      <p:sp>
        <p:nvSpPr>
          <p:cNvPr id="48" name="Shape 27"/>
          <p:cNvSpPr/>
          <p:nvPr/>
        </p:nvSpPr>
        <p:spPr>
          <a:xfrm>
            <a:off x="10497312" y="3323844"/>
            <a:ext cx="571500" cy="219456"/>
          </a:xfrm>
          <a:prstGeom prst="roundRect">
            <a:avLst>
              <a:gd name="adj" fmla="val 416667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28"/>
          <p:cNvSpPr txBox="1"/>
          <p:nvPr/>
        </p:nvSpPr>
        <p:spPr>
          <a:xfrm>
            <a:off x="10468966" y="3323844"/>
            <a:ext cx="6291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ctr" indent="0" marL="0">
              <a:buNone/>
            </a:pPr>
            <a:r>
              <a:rPr lang="en-US" sz="800" b="1" spc="38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5</a:t>
            </a:r>
            <a:endParaRPr lang="en-US" sz="800" dirty="0"/>
          </a:p>
        </p:txBody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rcRect l="-400" r="-400" t="0" b="0"/>
          <a:stretch/>
        </p:blipFill>
        <p:spPr>
          <a:xfrm>
            <a:off x="10772546" y="3543300"/>
            <a:ext cx="19202" cy="571500"/>
          </a:xfrm>
          <a:prstGeom prst="rect">
            <a:avLst/>
          </a:prstGeom>
        </p:spPr>
      </p:pic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668305" y="3886200"/>
            <a:ext cx="228600" cy="228600"/>
          </a:xfrm>
          <a:prstGeom prst="rect">
            <a:avLst/>
          </a:prstGeom>
        </p:spPr>
      </p:pic>
      <p:sp>
        <p:nvSpPr>
          <p:cNvPr id="52" name="Shape 29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53" name="Text 30"/>
          <p:cNvSpPr txBox="1"/>
          <p:nvPr/>
        </p:nvSpPr>
        <p:spPr>
          <a:xfrm>
            <a:off x="571500" y="232258"/>
            <a:ext cx="41248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54" name="Text 31"/>
          <p:cNvSpPr txBox="1"/>
          <p:nvPr/>
        </p:nvSpPr>
        <p:spPr>
          <a:xfrm>
            <a:off x="571500" y="682142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Roadmap for Scalability, Trust, and Clinical Impact</a:t>
            </a:r>
            <a:endParaRPr lang="en-US" sz="1200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268" b="-268"/>
          <a:stretch/>
        </p:blipFill>
        <p:spPr>
          <a:xfrm>
            <a:off x="11087100" y="333756"/>
            <a:ext cx="533095" cy="476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2026-03-25T10:01:32Z</dcterms:created>
  <dcterms:modified xsi:type="dcterms:W3CDTF">2026-03-25T10:01:32Z</dcterms:modified>
</cp:coreProperties>
</file>